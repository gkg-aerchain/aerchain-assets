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8288000" cy="9902952"/>
          </a:xfrm>
          <a:prstGeom prst="rect">
            <a:avLst/>
          </a:prstGeom>
          <a:gradFill rotWithShape="1">
            <a:gsLst>
              <a:gs pos="0">
                <a:srgbClr val="005EEF"/>
              </a:gs>
              <a:gs pos="100000">
                <a:srgbClr val="1F36C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60120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erchai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6032"/>
            <a:ext cx="2660904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0" y="256032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A707B"/>
                </a:solidFill>
                <a:latin typeface="Consolas"/>
              </a:rPr>
              <a:t>×</a:t>
            </a:r>
          </a:p>
        </p:txBody>
      </p:sp>
      <p:pic>
        <p:nvPicPr>
          <p:cNvPr id="7" name="Picture 6" descr="infosy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56032"/>
            <a:ext cx="1188720" cy="46634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8112" y="274320"/>
            <a:ext cx="0" cy="41148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87568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6A707B"/>
                </a:solidFill>
                <a:latin typeface="Consolas"/>
              </a:rPr>
              <a:t>EXECUTIVE BRIEFING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0" y="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F26"/>
                </a:solidFill>
                <a:latin typeface="Consolas"/>
              </a:rPr>
              <a:t>01</a:t>
            </a:r>
            <a:r>
              <a:rPr sz="1300" b="1" i="0">
                <a:solidFill>
                  <a:srgbClr val="6A707B"/>
                </a:solidFill>
                <a:latin typeface="Consolas"/>
              </a:rPr>
              <a:t> / 04</a:t>
            </a:r>
          </a:p>
        </p:txBody>
      </p:sp>
      <p:pic>
        <p:nvPicPr>
          <p:cNvPr id="11" name="Picture 10" descr="unilev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1808" y="155448"/>
            <a:ext cx="594360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1810512"/>
            <a:ext cx="1463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3B8FF"/>
                </a:solidFill>
                <a:latin typeface="Consolas"/>
              </a:rPr>
              <a:t>──── </a:t>
            </a:r>
            <a:r>
              <a:rPr sz="1300" b="1" i="0" spc="120">
                <a:solidFill>
                  <a:srgbClr val="BBD2FF"/>
                </a:solidFill>
                <a:latin typeface="Consolas"/>
              </a:rPr>
              <a:t>AERCHAIN × INFOSYS · DEPLOYED AT UNILEVER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31720"/>
            <a:ext cx="16824960" cy="3840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0" b="0" i="0">
                <a:solidFill>
                  <a:srgbClr val="FFFFFF"/>
                </a:solidFill>
                <a:latin typeface="Montserrat Medium"/>
              </a:rPr>
              <a:t>Autonomous Agentic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0" b="0" i="0">
                <a:solidFill>
                  <a:srgbClr val="FFFFFF"/>
                </a:solidFill>
                <a:latin typeface="Montserrat Medium"/>
              </a:rPr>
              <a:t>Sourcing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800" b="0" i="0">
                <a:solidFill>
                  <a:srgbClr val="FFFFFF"/>
                </a:solidFill>
                <a:latin typeface="Montserrat Light"/>
              </a:rPr>
              <a:t>for Unilever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629400"/>
            <a:ext cx="15087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BD2FF"/>
                </a:solidFill>
                <a:latin typeface="Montserrat Light"/>
              </a:rPr>
              <a:t>Infosys deploys Aerchain's autonomous-sourcing layer across Unilever — turning classical, manual sourcing into AI-driven, agent-run sourcing that is live and already delivering hard savings.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7863840"/>
            <a:ext cx="16459200" cy="0"/>
          </a:xfrm>
          <a:prstGeom prst="bentConnector3">
            <a:avLst/>
          </a:prstGeom>
          <a:ln w="9525">
            <a:solidFill>
              <a:srgbClr val="93B8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8156448"/>
            <a:ext cx="3931920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$5M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94283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BD2FF"/>
                </a:solidFill>
                <a:latin typeface="Montserrat"/>
              </a:rPr>
              <a:t>Savings unlocked across 37 sourcing projects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8156448"/>
            <a:ext cx="3931920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1 : 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894283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BD2FF"/>
                </a:solidFill>
                <a:latin typeface="Montserrat"/>
              </a:rPr>
              <a:t>Return on every dollar invested in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8156448"/>
            <a:ext cx="3931920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$8M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894283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BD2FF"/>
                </a:solidFill>
                <a:latin typeface="Montserrat"/>
              </a:rPr>
              <a:t>Hard savings already delivered in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0" y="8156448"/>
            <a:ext cx="3931920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0" y="894283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BD2FF"/>
                </a:solidFill>
                <a:latin typeface="Montserrat"/>
              </a:rPr>
              <a:t>In production today for Business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0" y="9902952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AERCHAIN · AGENTIC PROCUREMENT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CONFIDENTIAL · PREPARED FOR UNILEVER · VIA INFOSYS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60120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erchai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6032"/>
            <a:ext cx="2660904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0" y="256032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A707B"/>
                </a:solidFill>
                <a:latin typeface="Consolas"/>
              </a:rPr>
              <a:t>×</a:t>
            </a:r>
          </a:p>
        </p:txBody>
      </p:sp>
      <p:pic>
        <p:nvPicPr>
          <p:cNvPr id="7" name="Picture 6" descr="infosy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56032"/>
            <a:ext cx="1188720" cy="46634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8112" y="274320"/>
            <a:ext cx="0" cy="41148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87568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6A707B"/>
                </a:solidFill>
                <a:latin typeface="Consolas"/>
              </a:rPr>
              <a:t>AERCHAIN-AUTONOMOUS SOURCING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0" y="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F26"/>
                </a:solidFill>
                <a:latin typeface="Consolas"/>
              </a:rPr>
              <a:t>02</a:t>
            </a:r>
            <a:r>
              <a:rPr sz="1300" b="1" i="0">
                <a:solidFill>
                  <a:srgbClr val="6A707B"/>
                </a:solidFill>
                <a:latin typeface="Consolas"/>
              </a:rPr>
              <a:t> / 04</a:t>
            </a:r>
          </a:p>
        </p:txBody>
      </p:sp>
      <p:pic>
        <p:nvPicPr>
          <p:cNvPr id="11" name="Picture 10" descr="unilev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1808" y="155448"/>
            <a:ext cx="594360" cy="6583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1216152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005EEF"/>
                </a:solidFill>
                <a:latin typeface="Consolas"/>
              </a:rPr>
              <a:t>UNILEVER × INFOSYS × AERCHAIN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19072"/>
            <a:ext cx="1677009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B1F26"/>
                </a:solidFill>
                <a:latin typeface="Montserrat"/>
              </a:rPr>
              <a:t>From classical sourcing to </a:t>
            </a:r>
            <a:r>
              <a:rPr sz="4000" b="0" i="0">
                <a:solidFill>
                  <a:srgbClr val="005EEF"/>
                </a:solidFill>
                <a:latin typeface="Montserrat"/>
              </a:rPr>
              <a:t>autonomous sourcing</a:t>
            </a:r>
            <a:r>
              <a:rPr sz="4000" b="0" i="0">
                <a:solidFill>
                  <a:srgbClr val="1B1F26"/>
                </a:solidFill>
                <a:latin typeface="Montserra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450592"/>
            <a:ext cx="160934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What changed when Infosys deployed Aerchain's autonomous-sourcing layer at Unilever — and the value it is already delivering.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054096"/>
            <a:ext cx="16770096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952" y="3246120"/>
            <a:ext cx="3456432" cy="6355080"/>
          </a:xfrm>
          <a:prstGeom prst="roundRect">
            <a:avLst>
              <a:gd name="adj" fmla="val 2645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" y="3246120"/>
            <a:ext cx="3456432" cy="64008"/>
          </a:xfrm>
          <a:prstGeom prst="rect">
            <a:avLst/>
          </a:prstGeom>
          <a:solidFill>
            <a:srgbClr val="6A7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3" y="3557015"/>
            <a:ext cx="2944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6A707B"/>
                </a:solidFill>
                <a:latin typeface="Consolas"/>
              </a:rP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3831335"/>
            <a:ext cx="29443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B1F26"/>
                </a:solidFill>
                <a:latin typeface="Montserrat Medium"/>
              </a:rPr>
              <a:t>Classical sourcing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466344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4645152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Classical, manual sourcing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49824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744" y="5431536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Heavy Excel dependency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6236208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0744" y="6217920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Time &amp; resource constraints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" y="7022592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0744" y="7004304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Gaps in category 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7808976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0744" y="7790688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Limited negotiation leverage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3" y="859536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0744" y="8577072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Reliance on past data &amp; benchmarks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3246120"/>
            <a:ext cx="3584448" cy="635508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3246120"/>
            <a:ext cx="3584448" cy="64008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3557015"/>
            <a:ext cx="30723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5EEF"/>
                </a:solidFill>
                <a:latin typeface="Consolas"/>
              </a:rPr>
              <a:t>NOW · WITH INFOSYS-AERCHAIN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3831335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B1F26"/>
                </a:solidFill>
                <a:latin typeface="Montserrat Medium"/>
              </a:rPr>
              <a:t>Autonomous sourcing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6864" y="466344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4645152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AI-driven, time-saving sourcing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6864" y="5449824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5431536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Automated quotes, RFx &amp; questionnaires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6864" y="6236208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0912" y="6217920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Intelligent supplier ranking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6864" y="7022592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2" y="7004304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Automated comms, live tracking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6864" y="7808976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0912" y="7790688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AI-powered insights &amp; query support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6864" y="859536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0912" y="8577072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Improved negotiation &amp; faster value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83879" y="3246120"/>
            <a:ext cx="3429000" cy="6355080"/>
          </a:xfrm>
          <a:prstGeom prst="roundRect">
            <a:avLst>
              <a:gd name="adj" fmla="val 3200"/>
            </a:avLst>
          </a:prstGeom>
          <a:gradFill rotWithShape="1">
            <a:gsLst>
              <a:gs pos="0">
                <a:srgbClr val="1F36C7"/>
              </a:gs>
              <a:gs pos="100000">
                <a:srgbClr val="0C1559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76488" y="3575303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FFFFFF"/>
                </a:solidFill>
                <a:latin typeface="Consolas"/>
              </a:rPr>
              <a:t>OUTCOME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76488" y="4032504"/>
            <a:ext cx="2843784" cy="0"/>
          </a:xfrm>
          <a:prstGeom prst="bentConnector3">
            <a:avLst/>
          </a:prstGeom>
          <a:ln w="9525">
            <a:solidFill>
              <a:srgbClr val="4A5A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476488" y="4325112"/>
            <a:ext cx="28437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$5M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76488" y="5148072"/>
            <a:ext cx="28437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7D0F7"/>
                </a:solidFill>
                <a:latin typeface="Montserrat"/>
              </a:rPr>
              <a:t>Savings on a $54M spend across 37 sourcing projects — 10% average yield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76488" y="5949696"/>
            <a:ext cx="2843784" cy="0"/>
          </a:xfrm>
          <a:prstGeom prst="bentConnector3">
            <a:avLst/>
          </a:prstGeom>
          <a:ln w="6350">
            <a:solidFill>
              <a:srgbClr val="4A5A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76488" y="6077712"/>
            <a:ext cx="28437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Live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76488" y="6900672"/>
            <a:ext cx="28437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7D0F7"/>
                </a:solidFill>
                <a:latin typeface="Montserrat"/>
              </a:rPr>
              <a:t>In production today for Unilever Business Services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76488" y="7702296"/>
            <a:ext cx="2843784" cy="0"/>
          </a:xfrm>
          <a:prstGeom prst="bentConnector3">
            <a:avLst/>
          </a:prstGeom>
          <a:ln w="6350">
            <a:solidFill>
              <a:srgbClr val="4A5A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476488" y="7830311"/>
            <a:ext cx="28437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Scaling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6488" y="8653272"/>
            <a:ext cx="28437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7D0F7"/>
                </a:solidFill>
                <a:latin typeface="Montserrat"/>
              </a:rPr>
              <a:t>Across Marketing &amp; IT for Infosys-managed spend, and beyond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841480" y="3246120"/>
            <a:ext cx="5687568" cy="6355080"/>
          </a:xfrm>
          <a:prstGeom prst="roundRect">
            <a:avLst>
              <a:gd name="adj" fmla="val 1929"/>
            </a:avLst>
          </a:prstGeom>
          <a:gradFill rotWithShape="1">
            <a:gsLst>
              <a:gs pos="0">
                <a:srgbClr val="005EEF"/>
              </a:gs>
              <a:gs pos="100000">
                <a:srgbClr val="1F36C7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207240" y="3575303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FFFFFF"/>
                </a:solidFill>
                <a:latin typeface="Consolas"/>
              </a:rPr>
              <a:t>IMPACT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2207240" y="4032504"/>
            <a:ext cx="4956048" cy="0"/>
          </a:xfrm>
          <a:prstGeom prst="bentConnector3">
            <a:avLst/>
          </a:prstGeom>
          <a:ln w="9525">
            <a:solidFill>
              <a:srgbClr val="4D8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2207240" y="4297679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Medium"/>
              </a:rPr>
              <a:t>1 : 58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207240" y="5138927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Montserrat SemiBold"/>
              </a:rPr>
              <a:t>Return on investment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207240" y="5504688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2E2FF"/>
                </a:solidFill>
                <a:latin typeface="Montserrat"/>
              </a:rPr>
              <a:t>On $15.5M committed savings, 2026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2207240" y="6739127"/>
            <a:ext cx="2340864" cy="0"/>
          </a:xfrm>
          <a:prstGeom prst="bentConnector3">
            <a:avLst/>
          </a:prstGeom>
          <a:ln w="6350">
            <a:solidFill>
              <a:srgbClr val="4D8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4822424" y="4297679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Medium"/>
              </a:rPr>
              <a:t>$265K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822424" y="5138927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Montserrat SemiBold"/>
              </a:rPr>
              <a:t>Annual platform cost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822424" y="5504688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2E2FF"/>
                </a:solidFill>
                <a:latin typeface="Montserrat"/>
              </a:rPr>
              <a:t>Fully-loaded run cost for 2026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4822424" y="6739127"/>
            <a:ext cx="2340864" cy="0"/>
          </a:xfrm>
          <a:prstGeom prst="bentConnector3">
            <a:avLst/>
          </a:prstGeom>
          <a:ln w="6350">
            <a:solidFill>
              <a:srgbClr val="4D8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2207240" y="6903719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Medium"/>
              </a:rPr>
              <a:t>$8M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207240" y="7744967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Montserrat SemiBold"/>
              </a:rPr>
              <a:t>Hard savings in 2025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207240" y="8110727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2E2FF"/>
                </a:solidFill>
                <a:latin typeface="Montserrat"/>
              </a:rPr>
              <a:t>Delivered, banked, audited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822424" y="6903719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Medium"/>
              </a:rPr>
              <a:t>~3%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822424" y="7744967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Montserrat SemiBold"/>
              </a:rPr>
              <a:t>FTE efficiency gain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822424" y="8110727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2E2FF"/>
                </a:solidFill>
                <a:latin typeface="Montserrat"/>
              </a:rPr>
              <a:t>Year on year, plus negotiation uplift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0" y="9902952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58952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AERCHAIN × INFOSYS · AUTONOMOUS SOURCING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56248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CONFIDENTIAL · PREPARED FOR UNILEVER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60120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erchai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6032"/>
            <a:ext cx="2660904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0" y="256032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A707B"/>
                </a:solidFill>
                <a:latin typeface="Consolas"/>
              </a:rPr>
              <a:t>×</a:t>
            </a:r>
          </a:p>
        </p:txBody>
      </p:sp>
      <p:pic>
        <p:nvPicPr>
          <p:cNvPr id="7" name="Picture 6" descr="infosy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56032"/>
            <a:ext cx="1188720" cy="46634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8112" y="274320"/>
            <a:ext cx="0" cy="41148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87568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6A707B"/>
                </a:solidFill>
                <a:latin typeface="Consolas"/>
              </a:rPr>
              <a:t>HOW IT WORKS · THE AGENTIC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0" y="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F26"/>
                </a:solidFill>
                <a:latin typeface="Consolas"/>
              </a:rPr>
              <a:t>03</a:t>
            </a:r>
            <a:r>
              <a:rPr sz="1300" b="1" i="0">
                <a:solidFill>
                  <a:srgbClr val="6A707B"/>
                </a:solidFill>
                <a:latin typeface="Consolas"/>
              </a:rPr>
              <a:t> / 04</a:t>
            </a:r>
          </a:p>
        </p:txBody>
      </p:sp>
      <p:pic>
        <p:nvPicPr>
          <p:cNvPr id="11" name="Picture 10" descr="unilev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1808" y="155448"/>
            <a:ext cx="594360" cy="6583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1216152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005EEF"/>
                </a:solidFill>
                <a:latin typeface="Consolas"/>
              </a:rPr>
              <a:t>CAPABILITY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19072"/>
            <a:ext cx="1677009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B1F26"/>
                </a:solidFill>
                <a:latin typeface="Montserrat"/>
              </a:rPr>
              <a:t>Five </a:t>
            </a:r>
            <a:r>
              <a:rPr sz="4000" b="0" i="0">
                <a:solidFill>
                  <a:srgbClr val="005EEF"/>
                </a:solidFill>
                <a:latin typeface="Montserrat"/>
              </a:rPr>
              <a:t>Aerchain agents</a:t>
            </a:r>
            <a:r>
              <a:rPr sz="4000" b="0" i="0">
                <a:solidFill>
                  <a:srgbClr val="1B1F26"/>
                </a:solidFill>
                <a:latin typeface="Montserrat"/>
              </a:rPr>
              <a:t>, running the sourcing cycle.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450592"/>
            <a:ext cx="160934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Each agent runs autonomously inside its station of the procure-to-pay flow, with human-in-the-loop guardrails per category — all live in production.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054096"/>
            <a:ext cx="16770096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952" y="3291840"/>
            <a:ext cx="3154680" cy="489204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" y="3291840"/>
            <a:ext cx="3154680" cy="64008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4983" y="3602736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intak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7" y="3749039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7943" y="3602736"/>
            <a:ext cx="181965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5EEF"/>
                </a:solidFill>
                <a:latin typeface="Consolas"/>
              </a:rPr>
              <a:t>AGENT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4480560"/>
            <a:ext cx="264261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B1F26"/>
                </a:solidFill>
                <a:latin typeface="Montserrat Medium"/>
              </a:rPr>
              <a:t>Intake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12064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 Medium"/>
              </a:rPr>
              <a:t>Intake &amp; Enrichment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3" y="568756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3" y="568756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Auto-ingest PRs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3" y="623620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623620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Clean &amp; classify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" y="678484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3" y="678484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Enrich &amp; tag spend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4983" y="7516368"/>
            <a:ext cx="2642616" cy="420624"/>
          </a:xfrm>
          <a:prstGeom prst="roundRect">
            <a:avLst>
              <a:gd name="adj" fmla="val 50000"/>
            </a:avLst>
          </a:prstGeom>
          <a:solidFill>
            <a:srgbClr val="E3F6EB"/>
          </a:solidFill>
          <a:ln w="9525">
            <a:solidFill>
              <a:srgbClr val="14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3" y="7516368"/>
            <a:ext cx="2642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146B3F"/>
                </a:solidFill>
                <a:latin typeface="Consolas"/>
              </a:rPr>
              <a:t>✓  LIVE · UNILEVER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3291840"/>
            <a:ext cx="3154680" cy="489204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69080" y="3291840"/>
            <a:ext cx="3154680" cy="64008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25112" y="3602736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_sourcing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749039"/>
            <a:ext cx="365760" cy="3657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48072" y="3602736"/>
            <a:ext cx="181965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5EEF"/>
                </a:solidFill>
                <a:latin typeface="Consolas"/>
              </a:rPr>
              <a:t>AGENT 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4480560"/>
            <a:ext cx="264261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B1F26"/>
                </a:solidFill>
                <a:latin typeface="Montserrat Medium"/>
              </a:rPr>
              <a:t>Sourcing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5112" y="512064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 Medium"/>
              </a:rPr>
              <a:t>Multi-Agent RFQ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5112" y="568756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5112" y="568756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Build RFQ pack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25112" y="623620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5112" y="623620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Run outreach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25112" y="678484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25112" y="678484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Extract bids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25112" y="7516368"/>
            <a:ext cx="2642616" cy="420624"/>
          </a:xfrm>
          <a:prstGeom prst="roundRect">
            <a:avLst>
              <a:gd name="adj" fmla="val 50000"/>
            </a:avLst>
          </a:prstGeom>
          <a:solidFill>
            <a:srgbClr val="E3F6EB"/>
          </a:solidFill>
          <a:ln w="9525">
            <a:solidFill>
              <a:srgbClr val="14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5112" y="7516368"/>
            <a:ext cx="2642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146B3F"/>
                </a:solidFill>
                <a:latin typeface="Consolas"/>
              </a:rPr>
              <a:t>✓  LIVE · UNILEVER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79208" y="3291840"/>
            <a:ext cx="3154680" cy="489204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79208" y="3291840"/>
            <a:ext cx="3154680" cy="64008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635240" y="3602736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con_negotiation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544" y="3749039"/>
            <a:ext cx="365760" cy="36576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458200" y="3602736"/>
            <a:ext cx="181965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5EEF"/>
                </a:solidFill>
                <a:latin typeface="Consolas"/>
              </a:rPr>
              <a:t>AGENT 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480560"/>
            <a:ext cx="264261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B1F26"/>
                </a:solidFill>
                <a:latin typeface="Montserrat Medium"/>
              </a:rPr>
              <a:t>Negotiation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512064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 Medium"/>
              </a:rPr>
              <a:t>AI Negotiation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35240" y="568756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35240" y="568756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Multi-round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35240" y="623620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5240" y="623620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Price &amp; terms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35240" y="678484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678484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Auto-negotiate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35240" y="7516368"/>
            <a:ext cx="2642616" cy="420624"/>
          </a:xfrm>
          <a:prstGeom prst="roundRect">
            <a:avLst>
              <a:gd name="adj" fmla="val 50000"/>
            </a:avLst>
          </a:prstGeom>
          <a:solidFill>
            <a:srgbClr val="E3F6EB"/>
          </a:solidFill>
          <a:ln w="9525">
            <a:solidFill>
              <a:srgbClr val="14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5240" y="7516368"/>
            <a:ext cx="2642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146B3F"/>
                </a:solidFill>
                <a:latin typeface="Consolas"/>
              </a:rPr>
              <a:t>✓  LIVE · UNILEVER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89336" y="3291840"/>
            <a:ext cx="3154680" cy="489204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689336" y="3291840"/>
            <a:ext cx="3154680" cy="64008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945367" y="3602736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con_evaluation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1672" y="3749039"/>
            <a:ext cx="365760" cy="36576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1768328" y="3602736"/>
            <a:ext cx="181965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5EEF"/>
                </a:solidFill>
                <a:latin typeface="Consolas"/>
              </a:rPr>
              <a:t>AGENT 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45367" y="4480560"/>
            <a:ext cx="264261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B1F26"/>
                </a:solidFill>
                <a:latin typeface="Montserrat Medium"/>
              </a:rPr>
              <a:t>Evaluation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45367" y="512064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 Medium"/>
              </a:rPr>
              <a:t>Eval + Compliance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945367" y="568756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945367" y="568756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Score every bid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945367" y="623620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45367" y="623620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Compliance check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945367" y="678484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945367" y="678484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Rank &amp; recommend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945367" y="7516368"/>
            <a:ext cx="2642616" cy="420624"/>
          </a:xfrm>
          <a:prstGeom prst="roundRect">
            <a:avLst>
              <a:gd name="adj" fmla="val 50000"/>
            </a:avLst>
          </a:prstGeom>
          <a:solidFill>
            <a:srgbClr val="E3F6EB"/>
          </a:solidFill>
          <a:ln w="9525">
            <a:solidFill>
              <a:srgbClr val="14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45367" y="7516368"/>
            <a:ext cx="2642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146B3F"/>
                </a:solidFill>
                <a:latin typeface="Consolas"/>
              </a:rPr>
              <a:t>✓  LIVE · UNILEVER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3999464" y="3291840"/>
            <a:ext cx="3154680" cy="489204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3999464" y="3291840"/>
            <a:ext cx="3154680" cy="64008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4255496" y="3602736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con_award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01800" y="3749039"/>
            <a:ext cx="365760" cy="36576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5078455" y="3602736"/>
            <a:ext cx="181965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5EEF"/>
                </a:solidFill>
                <a:latin typeface="Consolas"/>
              </a:rPr>
              <a:t>AGENT 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255496" y="4480560"/>
            <a:ext cx="264261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B1F26"/>
                </a:solidFill>
                <a:latin typeface="Montserrat Medium"/>
              </a:rPr>
              <a:t>Award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255496" y="512064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5EEF"/>
                </a:solidFill>
                <a:latin typeface="Montserrat Medium"/>
              </a:rPr>
              <a:t>Scenario + Writeback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4255496" y="568756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255496" y="568756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Build scenarios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4255496" y="623620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255496" y="623620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Optimal allocation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4255496" y="678484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255496" y="678484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A4FD6"/>
                </a:solidFill>
                <a:latin typeface="Montserrat SemiBold"/>
              </a:rPr>
              <a:t>Write back to ERP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4255496" y="7516368"/>
            <a:ext cx="2642616" cy="420624"/>
          </a:xfrm>
          <a:prstGeom prst="roundRect">
            <a:avLst>
              <a:gd name="adj" fmla="val 50000"/>
            </a:avLst>
          </a:prstGeom>
          <a:solidFill>
            <a:srgbClr val="E3F6EB"/>
          </a:solidFill>
          <a:ln w="9525">
            <a:solidFill>
              <a:srgbClr val="14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255496" y="7516368"/>
            <a:ext cx="2642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146B3F"/>
                </a:solidFill>
                <a:latin typeface="Consolas"/>
              </a:rPr>
              <a:t>✓  LIVE · UNILEVER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58952" y="8503920"/>
            <a:ext cx="16770096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1560" y="8503920"/>
            <a:ext cx="283464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 spc="120">
                <a:solidFill>
                  <a:srgbClr val="005EEF"/>
                </a:solidFill>
                <a:latin typeface="Consolas"/>
              </a:rPr>
              <a:t>GUARDRAILS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A707B"/>
                </a:solidFill>
                <a:latin typeface="Montserrat"/>
              </a:rPr>
              <a:t>Every step · per category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114800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0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Hard limits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352032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52032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&gt;5% deviation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89264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89264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SoD matrix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826496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826496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Immutable audit log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3063728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3063728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Auto-blacklist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5300960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5300960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Human-in-the-loop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0" y="9902952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58952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AERCHAIN × INFOSYS · AUTONOMOUS SOURCING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56248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CONFIDENTIAL · PREPARED FOR UNILEVER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60120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erchai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6032"/>
            <a:ext cx="2660904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0" y="256032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A707B"/>
                </a:solidFill>
                <a:latin typeface="Consolas"/>
              </a:rPr>
              <a:t>×</a:t>
            </a:r>
          </a:p>
        </p:txBody>
      </p:sp>
      <p:pic>
        <p:nvPicPr>
          <p:cNvPr id="7" name="Picture 6" descr="infosy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56032"/>
            <a:ext cx="1188720" cy="46634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8112" y="274320"/>
            <a:ext cx="0" cy="41148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87568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6A707B"/>
                </a:solidFill>
                <a:latin typeface="Consolas"/>
              </a:rPr>
              <a:t>THE BUSINESS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0" y="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F26"/>
                </a:solidFill>
                <a:latin typeface="Consolas"/>
              </a:rPr>
              <a:t>04</a:t>
            </a:r>
            <a:r>
              <a:rPr sz="1300" b="1" i="0">
                <a:solidFill>
                  <a:srgbClr val="6A707B"/>
                </a:solidFill>
                <a:latin typeface="Consolas"/>
              </a:rPr>
              <a:t> / 04</a:t>
            </a:r>
          </a:p>
        </p:txBody>
      </p:sp>
      <p:pic>
        <p:nvPicPr>
          <p:cNvPr id="11" name="Picture 10" descr="unilev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1808" y="155448"/>
            <a:ext cx="594360" cy="6583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1216152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005EEF"/>
                </a:solidFill>
                <a:latin typeface="Consolas"/>
              </a:rPr>
              <a:t>VALUE &amp;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19072"/>
            <a:ext cx="1677009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B1F26"/>
                </a:solidFill>
                <a:latin typeface="Montserrat"/>
              </a:rPr>
              <a:t>A </a:t>
            </a:r>
            <a:r>
              <a:rPr sz="4000" b="0" i="0">
                <a:solidFill>
                  <a:srgbClr val="005EEF"/>
                </a:solidFill>
                <a:latin typeface="Montserrat"/>
              </a:rPr>
              <a:t>1 : 58 return</a:t>
            </a:r>
            <a:r>
              <a:rPr sz="4000" b="0" i="0">
                <a:solidFill>
                  <a:srgbClr val="1B1F26"/>
                </a:solidFill>
                <a:latin typeface="Montserrat"/>
              </a:rPr>
              <a:t> — and it is already banked.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450592"/>
            <a:ext cx="160934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The numbers behind the deployment: addressable spend, committed savings, run cost, and the rollout path from here.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054096"/>
            <a:ext cx="16770096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952" y="329184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" y="3291840"/>
            <a:ext cx="64008" cy="1975104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5661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005EEF"/>
                </a:solidFill>
                <a:latin typeface="Montserrat Medium"/>
              </a:rPr>
              <a:t>$54M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89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Addressable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73659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Across 37 active sourcing projects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56632" y="329184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56632" y="3291840"/>
            <a:ext cx="64008" cy="1975104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5661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005EEF"/>
                </a:solidFill>
                <a:latin typeface="Montserrat Medium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389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Average yield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73659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Realised savings rate per project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" y="539496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" y="5394960"/>
            <a:ext cx="64008" cy="1975104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6692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005EEF"/>
                </a:solidFill>
                <a:latin typeface="Montserrat Medium"/>
              </a:rPr>
              <a:t>$5M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6492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Savings unlocked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683971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Across projects at various stages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6632" y="539496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56632" y="5394960"/>
            <a:ext cx="64008" cy="1975104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56692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005EEF"/>
                </a:solidFill>
                <a:latin typeface="Montserrat Medium"/>
              </a:rPr>
              <a:t>$15.5M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6492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Committed savings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683971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Target the platform is underwriting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" y="749808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" y="7498080"/>
            <a:ext cx="64008" cy="1975104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777240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005EEF"/>
                </a:solidFill>
                <a:latin typeface="Montserrat Medium"/>
              </a:rPr>
              <a:t>$265K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8595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Annual platform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894283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Fully-loaded run cost for 2026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56632" y="749808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56632" y="7498080"/>
            <a:ext cx="64008" cy="1975104"/>
          </a:xfrm>
          <a:prstGeom prst="rect">
            <a:avLst/>
          </a:prstGeom>
          <a:solidFill>
            <a:srgbClr val="005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777240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005EEF"/>
                </a:solidFill>
                <a:latin typeface="Montserrat Medium"/>
              </a:rPr>
              <a:t>1 : 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8595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Return on investment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894283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Every $1 returns $58 in 2026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3291840"/>
            <a:ext cx="820216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59" y="3602736"/>
            <a:ext cx="73792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005EEF"/>
                </a:solidFill>
                <a:latin typeface="Consolas"/>
              </a:rPr>
              <a:t>SAVINGS MOMENTUM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12680" y="4869917"/>
            <a:ext cx="1417320" cy="707922"/>
          </a:xfrm>
          <a:prstGeom prst="roundRect">
            <a:avLst>
              <a:gd name="adj" fmla="val 5166"/>
            </a:avLst>
          </a:prstGeom>
          <a:gradFill rotWithShape="1">
            <a:gsLst>
              <a:gs pos="0">
                <a:srgbClr val="93B8FF"/>
              </a:gs>
              <a:gs pos="100000">
                <a:srgbClr val="5B8DF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4412717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5EEF"/>
                </a:solidFill>
                <a:latin typeface="Montserrat SemiBold"/>
              </a:rPr>
              <a:t>$8M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632704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F26"/>
                </a:solidFill>
                <a:latin typeface="Montserrat SemiBold"/>
              </a:rPr>
              <a:t>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5888736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07B"/>
                </a:solidFill>
                <a:latin typeface="Montserrat"/>
              </a:rPr>
              <a:t>delivered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4206240"/>
            <a:ext cx="1417320" cy="1371600"/>
          </a:xfrm>
          <a:prstGeom prst="roundRect">
            <a:avLst>
              <a:gd name="adj" fmla="val 2666"/>
            </a:avLst>
          </a:prstGeom>
          <a:gradFill rotWithShape="1">
            <a:gsLst>
              <a:gs pos="0">
                <a:srgbClr val="2C6BEF"/>
              </a:gs>
              <a:gs pos="100000">
                <a:srgbClr val="1F36C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024360" y="37490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5EEF"/>
                </a:solidFill>
                <a:latin typeface="Montserrat SemiBold"/>
              </a:rPr>
              <a:t>$15.5M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024360" y="5632704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F26"/>
                </a:solidFill>
                <a:latin typeface="Montserrat SemiBold"/>
              </a:rPr>
              <a:t>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024360" y="5888736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07B"/>
                </a:solidFill>
                <a:latin typeface="Montserrat"/>
              </a:rPr>
              <a:t>committed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829800" y="5577840"/>
            <a:ext cx="50292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4584680" y="4160520"/>
            <a:ext cx="2624328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005EEF"/>
                </a:solidFill>
                <a:latin typeface="Montserrat Medium"/>
              </a:rPr>
              <a:t>≈2×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84E59"/>
                </a:solidFill>
                <a:latin typeface="Montserrat"/>
              </a:rPr>
              <a:t>growth in committed savings, 2025 → 2026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26880" y="6355080"/>
            <a:ext cx="8202168" cy="27432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F36C7"/>
              </a:gs>
              <a:gs pos="100000">
                <a:srgbClr val="0C1559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38359" y="6665976"/>
            <a:ext cx="73792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C7D0F7"/>
                </a:solidFill>
                <a:latin typeface="Consolas"/>
              </a:rPr>
              <a:t>ROLLOUT ROADMAP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8359" y="7223760"/>
            <a:ext cx="2276856" cy="1554480"/>
          </a:xfrm>
          <a:prstGeom prst="roundRect">
            <a:avLst>
              <a:gd name="adj" fmla="val 4705"/>
            </a:avLst>
          </a:prstGeom>
          <a:solidFill>
            <a:srgbClr val="18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94391" y="7461504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C7D0F7"/>
                </a:solidFill>
                <a:latin typeface="Consolas"/>
              </a:rPr>
              <a:t>NOW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94391" y="7772400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</a:rPr>
              <a:t>Business Services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94391" y="8302752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7D0F7"/>
                </a:solidFill>
                <a:latin typeface="Montserrat"/>
              </a:rPr>
              <a:t>Live in production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996928" y="7680960"/>
            <a:ext cx="3108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Montserrat"/>
              </a:rP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289535" y="7223760"/>
            <a:ext cx="2276856" cy="1554480"/>
          </a:xfrm>
          <a:prstGeom prst="roundRect">
            <a:avLst>
              <a:gd name="adj" fmla="val 4705"/>
            </a:avLst>
          </a:prstGeom>
          <a:solidFill>
            <a:srgbClr val="18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545567" y="7461504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C7D0F7"/>
                </a:solidFill>
                <a:latin typeface="Consolas"/>
              </a:rPr>
              <a:t>NEXT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45567" y="7772400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</a:rPr>
              <a:t>Marketing &amp; 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545567" y="8302752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7D0F7"/>
                </a:solidFill>
                <a:latin typeface="Montserrat"/>
              </a:rPr>
              <a:t>Infosys-managed spend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548103" y="7680960"/>
            <a:ext cx="3108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Montserrat"/>
              </a:rPr>
              <a:t>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4840711" y="7223760"/>
            <a:ext cx="2276856" cy="1554480"/>
          </a:xfrm>
          <a:prstGeom prst="roundRect">
            <a:avLst>
              <a:gd name="adj" fmla="val 4705"/>
            </a:avLst>
          </a:prstGeom>
          <a:solidFill>
            <a:srgbClr val="182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096743" y="7461504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C7D0F7"/>
                </a:solidFill>
                <a:latin typeface="Consolas"/>
              </a:rPr>
              <a:t>THEN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096743" y="7772400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</a:rPr>
              <a:t>Enterprise-wide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096743" y="8302752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7D0F7"/>
                </a:solidFill>
                <a:latin typeface="Montserrat"/>
              </a:rPr>
              <a:t>Scaling beyond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0" y="9902952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58952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AERCHAIN × INFOSYS · AUTONOMOUS SOURCING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56248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CONFIDENTIAL · PREPARED FOR UNILEVER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