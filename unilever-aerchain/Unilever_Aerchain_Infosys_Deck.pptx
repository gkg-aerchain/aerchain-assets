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84048"/>
            <a:ext cx="18288000" cy="9902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0" y="914400"/>
            <a:ext cx="18288000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erchain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74320"/>
            <a:ext cx="2542032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56432" y="0"/>
            <a:ext cx="45720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A707B"/>
                </a:solidFill>
                <a:latin typeface="Consolas"/>
              </a:rPr>
              <a:t>×</a:t>
            </a:r>
          </a:p>
        </p:txBody>
      </p:sp>
      <p:pic>
        <p:nvPicPr>
          <p:cNvPr id="7" name="Picture 6" descr="infosys_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39" y="320040"/>
            <a:ext cx="960120" cy="2834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513832" y="0"/>
            <a:ext cx="822960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6A707B"/>
                </a:solidFill>
                <a:latin typeface="Consolas"/>
              </a:rPr>
              <a:t>EXECUTIVE BRIEFING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0" y="0"/>
            <a:ext cx="155448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1F26"/>
                </a:solidFill>
                <a:latin typeface="Consolas"/>
              </a:rPr>
              <a:t>01</a:t>
            </a:r>
            <a:r>
              <a:rPr sz="1200" b="1" i="0">
                <a:solidFill>
                  <a:srgbClr val="6A707B"/>
                </a:solidFill>
                <a:latin typeface="Consolas"/>
              </a:rPr>
              <a:t> / 04</a:t>
            </a:r>
          </a:p>
        </p:txBody>
      </p:sp>
      <p:pic>
        <p:nvPicPr>
          <p:cNvPr id="10" name="Picture 9" descr="unilever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62120" y="246888"/>
            <a:ext cx="41148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" y="1783080"/>
            <a:ext cx="1463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4A8F7"/>
                </a:solidFill>
                <a:latin typeface="Consolas"/>
              </a:rPr>
              <a:t>──── </a:t>
            </a:r>
            <a:r>
              <a:rPr sz="1300" b="1" i="0" spc="120">
                <a:solidFill>
                  <a:srgbClr val="E0CFFA"/>
                </a:solidFill>
                <a:latin typeface="Consolas"/>
              </a:rPr>
              <a:t>AERCHAIN × INFOSYS · DEPLOYED AT UNILEVER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2331720"/>
            <a:ext cx="16824960" cy="3840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7800" b="0" i="0">
                <a:solidFill>
                  <a:srgbClr val="FFFFFF"/>
                </a:solidFill>
                <a:latin typeface="Montserrat Medium"/>
              </a:rPr>
              <a:t>Autonomous Agentic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7800" b="0" i="0">
                <a:solidFill>
                  <a:srgbClr val="FFFFFF"/>
                </a:solidFill>
                <a:latin typeface="Montserrat Medium"/>
              </a:rPr>
              <a:t>Sourcing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6600" b="0" i="0">
                <a:solidFill>
                  <a:srgbClr val="FFFFFF"/>
                </a:solidFill>
                <a:latin typeface="Montserrat Light"/>
              </a:rPr>
              <a:t>for Unilever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720840"/>
            <a:ext cx="1417320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E0CFFA"/>
                </a:solidFill>
                <a:latin typeface="Montserrat Light"/>
              </a:rPr>
              <a:t>Infosys deploys Aerchain's autonomous-sourcing layer across Unilever — turning classical, manual sourcing into AI-driven, agent-run sourcing that is live and already delivering hard savings.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14400" y="7818120"/>
            <a:ext cx="16459200" cy="0"/>
          </a:xfrm>
          <a:prstGeom prst="bentConnector3">
            <a:avLst/>
          </a:prstGeom>
          <a:ln w="9525">
            <a:solidFill>
              <a:srgbClr val="C4A8F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14400" y="8092440"/>
            <a:ext cx="3840480" cy="71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Montserrat"/>
              </a:rPr>
              <a:t>$5M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8796528"/>
            <a:ext cx="384048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0CFFA"/>
                </a:solidFill>
                <a:latin typeface="Montserrat"/>
              </a:rPr>
              <a:t>Savings unlocked across 37 sourcing projects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8092440"/>
            <a:ext cx="3840480" cy="71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Montserrat"/>
              </a:rPr>
              <a:t>1 : 58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8796528"/>
            <a:ext cx="384048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0CFFA"/>
                </a:solidFill>
                <a:latin typeface="Montserrat"/>
              </a:rPr>
              <a:t>Return on every dollar invested in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8092440"/>
            <a:ext cx="3840480" cy="71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Montserrat"/>
              </a:rPr>
              <a:t>$8M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8796528"/>
            <a:ext cx="384048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0CFFA"/>
                </a:solidFill>
                <a:latin typeface="Montserrat"/>
              </a:rPr>
              <a:t>Hard savings already delivered in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0" y="8092440"/>
            <a:ext cx="3840480" cy="71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Montserrat"/>
              </a:rPr>
              <a:t>Live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0" y="8796528"/>
            <a:ext cx="384048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0CFFA"/>
                </a:solidFill>
                <a:latin typeface="Montserrat"/>
              </a:rPr>
              <a:t>In production today for Business Services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9902952"/>
            <a:ext cx="182880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0" y="9902952"/>
            <a:ext cx="18288000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58952" y="9902952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80">
                <a:solidFill>
                  <a:srgbClr val="6A707B"/>
                </a:solidFill>
                <a:latin typeface="Consolas"/>
              </a:rPr>
              <a:t>AERCHAIN · AGENTIC PROCUREMENT PLATFORM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56248" y="9902952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80">
                <a:solidFill>
                  <a:srgbClr val="6A707B"/>
                </a:solidFill>
                <a:latin typeface="Consolas"/>
              </a:rPr>
              <a:t>CONFIDENTIAL · PREPARED FOR UNILEVER · VIA INFOSYS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0" y="914400"/>
            <a:ext cx="18288000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erchain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74320"/>
            <a:ext cx="2542032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56432" y="0"/>
            <a:ext cx="45720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A707B"/>
                </a:solidFill>
                <a:latin typeface="Consolas"/>
              </a:rPr>
              <a:t>×</a:t>
            </a:r>
          </a:p>
        </p:txBody>
      </p:sp>
      <p:pic>
        <p:nvPicPr>
          <p:cNvPr id="7" name="Picture 6" descr="infosys_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39" y="320040"/>
            <a:ext cx="960120" cy="283464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5321808" y="320040"/>
            <a:ext cx="0" cy="274319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513832" y="0"/>
            <a:ext cx="822960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6A707B"/>
                </a:solidFill>
                <a:latin typeface="Consolas"/>
              </a:rPr>
              <a:t>AERCHAIN-AUTONOMOUS SOURCING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0" y="0"/>
            <a:ext cx="155448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1F26"/>
                </a:solidFill>
                <a:latin typeface="Consolas"/>
              </a:rPr>
              <a:t>02</a:t>
            </a:r>
            <a:r>
              <a:rPr sz="1200" b="1" i="0">
                <a:solidFill>
                  <a:srgbClr val="6A707B"/>
                </a:solidFill>
                <a:latin typeface="Consolas"/>
              </a:rPr>
              <a:t> / 04</a:t>
            </a:r>
          </a:p>
        </p:txBody>
      </p:sp>
      <p:pic>
        <p:nvPicPr>
          <p:cNvPr id="11" name="Picture 10" descr="unilever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62120" y="246888"/>
            <a:ext cx="411480" cy="4572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58952" y="1179576"/>
            <a:ext cx="402336" cy="40233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179576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onsola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1179576"/>
            <a:ext cx="1097280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7C3AED"/>
                </a:solidFill>
                <a:latin typeface="Consolas"/>
              </a:rPr>
              <a:t>UNILEVER × INFOSYS × AERCHAIN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1627632"/>
            <a:ext cx="16770096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>
                <a:solidFill>
                  <a:srgbClr val="1B1F26"/>
                </a:solidFill>
                <a:latin typeface="Montserrat"/>
              </a:rPr>
              <a:t>From classical sourcing to </a:t>
            </a:r>
            <a:r>
              <a:rPr sz="3600" b="0" i="0">
                <a:solidFill>
                  <a:srgbClr val="7C3AED"/>
                </a:solidFill>
                <a:latin typeface="Montserrat"/>
              </a:rPr>
              <a:t>autonomous sourcing</a:t>
            </a:r>
            <a:r>
              <a:rPr sz="3600" b="0" i="0">
                <a:solidFill>
                  <a:srgbClr val="1B1F26"/>
                </a:solidFill>
                <a:latin typeface="Montserrat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2286000"/>
            <a:ext cx="160934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84E59"/>
                </a:solidFill>
                <a:latin typeface="Montserrat"/>
              </a:rPr>
              <a:t>What changed when Infosys deployed Aerchain's autonomous-sourcing layer at Unilever — and the value it is already delivering.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58952" y="2944368"/>
            <a:ext cx="16770096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58952" y="3200400"/>
            <a:ext cx="3611880" cy="6309360"/>
          </a:xfrm>
          <a:prstGeom prst="roundRect">
            <a:avLst>
              <a:gd name="adj" fmla="val 2531"/>
            </a:avLst>
          </a:prstGeom>
          <a:solidFill>
            <a:srgbClr val="FFFFFF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58952" y="3200400"/>
            <a:ext cx="3611880" cy="54864"/>
          </a:xfrm>
          <a:prstGeom prst="rect">
            <a:avLst/>
          </a:prstGeom>
          <a:solidFill>
            <a:srgbClr val="6A70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3474720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6A707B"/>
                </a:solidFill>
                <a:latin typeface="Consolas"/>
              </a:rPr>
              <a:t>BEFORE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" y="370332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1F26"/>
                </a:solidFill>
                <a:latin typeface="Montserrat Medium"/>
              </a:rPr>
              <a:t>Unilever, classical sourcing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" y="443484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A707B"/>
                </a:solidFill>
                <a:latin typeface="Montserrat SemiBold"/>
              </a:rPr>
              <a:t>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07592" y="4416552"/>
            <a:ext cx="2862072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84E59"/>
                </a:solidFill>
                <a:latin typeface="Montserrat"/>
              </a:rPr>
              <a:t>Classical, manual sourcing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514807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A707B"/>
                </a:solidFill>
                <a:latin typeface="Montserrat SemiBold"/>
              </a:rPr>
              <a:t>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07592" y="5129784"/>
            <a:ext cx="2862072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84E59"/>
                </a:solidFill>
                <a:latin typeface="Montserrat"/>
              </a:rPr>
              <a:t>Heavy Excel dependency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" y="58613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A707B"/>
                </a:solidFill>
                <a:latin typeface="Montserrat SemiBold"/>
              </a:rPr>
              <a:t>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7592" y="5843016"/>
            <a:ext cx="2862072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84E59"/>
                </a:solidFill>
                <a:latin typeface="Montserrat"/>
              </a:rPr>
              <a:t>Time &amp; resource constraints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" y="657453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A707B"/>
                </a:solidFill>
                <a:latin typeface="Montserrat SemiBold"/>
              </a:rPr>
              <a:t>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07592" y="6556248"/>
            <a:ext cx="2862072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84E59"/>
                </a:solidFill>
                <a:latin typeface="Montserrat"/>
              </a:rPr>
              <a:t>Gaps in category expertise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" y="728776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A707B"/>
                </a:solidFill>
                <a:latin typeface="Montserrat SemiBold"/>
              </a:rPr>
              <a:t>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7592" y="7269480"/>
            <a:ext cx="2862072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84E59"/>
                </a:solidFill>
                <a:latin typeface="Montserrat"/>
              </a:rPr>
              <a:t>Limited negotiation leverage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" y="8001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A707B"/>
                </a:solidFill>
                <a:latin typeface="Montserrat SemiBold"/>
              </a:rPr>
              <a:t>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07592" y="7982712"/>
            <a:ext cx="2862072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84E59"/>
                </a:solidFill>
                <a:latin typeface="Montserrat"/>
              </a:rPr>
              <a:t>Reliance on past data &amp; benchmarks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26280" y="3200400"/>
            <a:ext cx="3794760" cy="6309360"/>
          </a:xfrm>
          <a:prstGeom prst="roundRect">
            <a:avLst>
              <a:gd name="adj" fmla="val 2409"/>
            </a:avLst>
          </a:prstGeom>
          <a:solidFill>
            <a:srgbClr val="FFFFFF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26280" y="3200400"/>
            <a:ext cx="3794760" cy="5486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80" y="3474720"/>
            <a:ext cx="33375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20">
                <a:solidFill>
                  <a:srgbClr val="7C3AED"/>
                </a:solidFill>
                <a:latin typeface="Consolas"/>
              </a:rPr>
              <a:t>NOW · WITH INFOSYS-AERCHAIN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4880" y="370332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1F26"/>
                </a:solidFill>
                <a:latin typeface="Montserrat Medium"/>
              </a:rPr>
              <a:t>Autonomous, agent-run sourcing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443484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C3AED"/>
                </a:solidFill>
                <a:latin typeface="Montserrat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93208" y="4416552"/>
            <a:ext cx="3026664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1F26"/>
                </a:solidFill>
                <a:latin typeface="Montserrat"/>
              </a:rPr>
              <a:t>AI-driven, time-saving sourcing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54880" y="514807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C3AED"/>
                </a:solidFill>
                <a:latin typeface="Montserrat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93208" y="5129784"/>
            <a:ext cx="3026664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1F26"/>
                </a:solidFill>
                <a:latin typeface="Montserrat"/>
              </a:rPr>
              <a:t>Automated quotes, RFx &amp; questionnaires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54880" y="58613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C3AED"/>
                </a:solidFill>
                <a:latin typeface="Montserrat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93208" y="5843016"/>
            <a:ext cx="3026664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1F26"/>
                </a:solidFill>
                <a:latin typeface="Montserrat"/>
              </a:rPr>
              <a:t>Intelligent supplier ranking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54880" y="657453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C3AED"/>
                </a:solidFill>
                <a:latin typeface="Montserrat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93208" y="6556248"/>
            <a:ext cx="3026664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1F26"/>
                </a:solidFill>
                <a:latin typeface="Montserrat"/>
              </a:rPr>
              <a:t>Automated comms with live tracking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54880" y="728776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C3AED"/>
                </a:solidFill>
                <a:latin typeface="Montserrat"/>
              </a:rPr>
              <a:t>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93208" y="7269480"/>
            <a:ext cx="3026664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1F26"/>
                </a:solidFill>
                <a:latin typeface="Montserrat"/>
              </a:rPr>
              <a:t>AI-powered insights &amp; query support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54880" y="8001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C3AED"/>
                </a:solidFill>
                <a:latin typeface="Montserrat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93208" y="7982712"/>
            <a:ext cx="3026664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1F26"/>
                </a:solidFill>
                <a:latin typeface="Montserrat"/>
              </a:rPr>
              <a:t>Improved negotiation &amp; faster value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595360" y="3200400"/>
            <a:ext cx="3566160" cy="6309360"/>
          </a:xfrm>
          <a:prstGeom prst="roundRect">
            <a:avLst>
              <a:gd name="adj" fmla="val 2564"/>
            </a:avLst>
          </a:prstGeom>
          <a:solidFill>
            <a:srgbClr val="16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69680" y="349300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FFFFFF"/>
                </a:solidFill>
                <a:latin typeface="Consolas"/>
              </a:rPr>
              <a:t>OUTCOME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869680" y="3913632"/>
            <a:ext cx="3017520" cy="0"/>
          </a:xfrm>
          <a:prstGeom prst="bentConnector3">
            <a:avLst/>
          </a:prstGeom>
          <a:ln w="9525">
            <a:solidFill>
              <a:srgbClr val="3A3F5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8869680" y="4270248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Montserrat"/>
              </a:rPr>
              <a:t>$5M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869680" y="502920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0CFFA"/>
                </a:solidFill>
                <a:latin typeface="Montserrat"/>
              </a:rPr>
              <a:t>Savings on a $54M spend across 37 sourcing projects — average yield 10%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8869680" y="5827776"/>
            <a:ext cx="3017520" cy="0"/>
          </a:xfrm>
          <a:prstGeom prst="bentConnector3">
            <a:avLst/>
          </a:prstGeom>
          <a:ln w="6350">
            <a:solidFill>
              <a:srgbClr val="3A3F5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8869680" y="5992368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Montserrat"/>
              </a:rPr>
              <a:t>Live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69680" y="675132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0CFFA"/>
                </a:solidFill>
                <a:latin typeface="Montserrat"/>
              </a:rPr>
              <a:t>In production today for Unilever Business Services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8869680" y="7549895"/>
            <a:ext cx="3017520" cy="0"/>
          </a:xfrm>
          <a:prstGeom prst="bentConnector3">
            <a:avLst/>
          </a:prstGeom>
          <a:ln w="6350">
            <a:solidFill>
              <a:srgbClr val="3A3F5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8869680" y="7714487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Montserrat"/>
              </a:rPr>
              <a:t>Scaling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869680" y="847344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0CFFA"/>
                </a:solidFill>
                <a:latin typeface="Montserrat"/>
              </a:rPr>
              <a:t>Across Marketing &amp; IT for Infosys-managed spend, and beyond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2435840" y="3200400"/>
            <a:ext cx="5093208" cy="6309360"/>
          </a:xfrm>
          <a:prstGeom prst="roundRect">
            <a:avLst>
              <a:gd name="adj" fmla="val 1795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2755880" y="3493008"/>
            <a:ext cx="445312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FFFFFF"/>
                </a:solidFill>
                <a:latin typeface="Consolas"/>
              </a:rPr>
              <a:t>IMPACT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2755880" y="3913632"/>
            <a:ext cx="4453128" cy="0"/>
          </a:xfrm>
          <a:prstGeom prst="bentConnector3">
            <a:avLst/>
          </a:prstGeom>
          <a:ln w="9525">
            <a:solidFill>
              <a:srgbClr val="C4A8F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12755880" y="4206240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Montserrat Medium"/>
              </a:rPr>
              <a:t>1 : 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950440" y="4142232"/>
            <a:ext cx="2258568" cy="384048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Montserrat Medium"/>
              </a:rPr>
              <a:t>Return on investment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4950440" y="4544568"/>
            <a:ext cx="225856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0CFFA"/>
                </a:solidFill>
                <a:latin typeface="Montserrat"/>
              </a:rPr>
              <a:t>On $15.5M committed savings in 2026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12755880" y="5378958"/>
            <a:ext cx="4453128" cy="0"/>
          </a:xfrm>
          <a:prstGeom prst="bentConnector3">
            <a:avLst/>
          </a:prstGeom>
          <a:ln w="6350">
            <a:solidFill>
              <a:srgbClr val="C4A8F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12755880" y="5497830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Montserrat Medium"/>
              </a:rPr>
              <a:t>$265K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4950440" y="5433822"/>
            <a:ext cx="2258568" cy="384048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Montserrat Medium"/>
              </a:rPr>
              <a:t>Annual cost of the platform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950440" y="5836158"/>
            <a:ext cx="225856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0CFFA"/>
                </a:solidFill>
                <a:latin typeface="Montserrat"/>
              </a:rPr>
              <a:t>Fully-loaded run cost for 2026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2755880" y="6670548"/>
            <a:ext cx="4453128" cy="0"/>
          </a:xfrm>
          <a:prstGeom prst="bentConnector3">
            <a:avLst/>
          </a:prstGeom>
          <a:ln w="6350">
            <a:solidFill>
              <a:srgbClr val="C4A8F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12755880" y="6789420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Montserrat Medium"/>
              </a:rPr>
              <a:t>$8M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950440" y="6725412"/>
            <a:ext cx="2258568" cy="384048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Montserrat Medium"/>
              </a:rPr>
              <a:t>Hard savings in 2025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4950440" y="7127748"/>
            <a:ext cx="225856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0CFFA"/>
                </a:solidFill>
                <a:latin typeface="Montserrat"/>
              </a:rPr>
              <a:t>Delivered, banked, audited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12755880" y="7962138"/>
            <a:ext cx="4453128" cy="0"/>
          </a:xfrm>
          <a:prstGeom prst="bentConnector3">
            <a:avLst/>
          </a:prstGeom>
          <a:ln w="6350">
            <a:solidFill>
              <a:srgbClr val="C4A8F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12755880" y="8081010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Montserrat Medium"/>
              </a:rPr>
              <a:t>~3%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4950440" y="8017002"/>
            <a:ext cx="2258568" cy="384048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Montserrat Medium"/>
              </a:rPr>
              <a:t>FTE efficiency gain, year on year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4950440" y="8419338"/>
            <a:ext cx="225856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0CFFA"/>
                </a:solidFill>
                <a:latin typeface="Montserrat"/>
              </a:rPr>
              <a:t>Plus improved negotiation efficiency</a:t>
            </a:r>
          </a:p>
        </p:txBody>
      </p:sp>
      <p:sp>
        <p:nvSpPr>
          <p:cNvPr id="79" name="Rectangle 78"/>
          <p:cNvSpPr/>
          <p:nvPr/>
        </p:nvSpPr>
        <p:spPr>
          <a:xfrm>
            <a:off x="0" y="9902952"/>
            <a:ext cx="182880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0" y="9902952"/>
            <a:ext cx="18288000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758952" y="9902952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80">
                <a:solidFill>
                  <a:srgbClr val="6A707B"/>
                </a:solidFill>
                <a:latin typeface="Consolas"/>
              </a:rPr>
              <a:t>AERCHAIN × INFOSYS · AUTONOMOUS SOURCING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556248" y="9902952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80">
                <a:solidFill>
                  <a:srgbClr val="6A707B"/>
                </a:solidFill>
                <a:latin typeface="Consolas"/>
              </a:rPr>
              <a:t>CONFIDENTIAL · PREPARED FOR UNILEVER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0" y="914400"/>
            <a:ext cx="18288000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erchain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74320"/>
            <a:ext cx="2542032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56432" y="0"/>
            <a:ext cx="45720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A707B"/>
                </a:solidFill>
                <a:latin typeface="Consolas"/>
              </a:rPr>
              <a:t>×</a:t>
            </a:r>
          </a:p>
        </p:txBody>
      </p:sp>
      <p:pic>
        <p:nvPicPr>
          <p:cNvPr id="7" name="Picture 6" descr="infosys_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39" y="320040"/>
            <a:ext cx="960120" cy="283464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5321808" y="320040"/>
            <a:ext cx="0" cy="274319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513832" y="0"/>
            <a:ext cx="822960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6A707B"/>
                </a:solidFill>
                <a:latin typeface="Consolas"/>
              </a:rPr>
              <a:t>HOW IT WORKS · THE AGENTIC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0" y="0"/>
            <a:ext cx="155448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1F26"/>
                </a:solidFill>
                <a:latin typeface="Consolas"/>
              </a:rPr>
              <a:t>03</a:t>
            </a:r>
            <a:r>
              <a:rPr sz="1200" b="1" i="0">
                <a:solidFill>
                  <a:srgbClr val="6A707B"/>
                </a:solidFill>
                <a:latin typeface="Consolas"/>
              </a:rPr>
              <a:t> / 04</a:t>
            </a:r>
          </a:p>
        </p:txBody>
      </p:sp>
      <p:pic>
        <p:nvPicPr>
          <p:cNvPr id="11" name="Picture 10" descr="unilever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62120" y="246888"/>
            <a:ext cx="411480" cy="4572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58952" y="1179576"/>
            <a:ext cx="402336" cy="40233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179576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1179576"/>
            <a:ext cx="1097280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7C3AED"/>
                </a:solidFill>
                <a:latin typeface="Consolas"/>
              </a:rPr>
              <a:t>CAPABILITY MAP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1627632"/>
            <a:ext cx="16770096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>
                <a:solidFill>
                  <a:srgbClr val="1B1F26"/>
                </a:solidFill>
                <a:latin typeface="Montserrat"/>
              </a:rPr>
              <a:t>Five </a:t>
            </a:r>
            <a:r>
              <a:rPr sz="3600" b="0" i="0">
                <a:solidFill>
                  <a:srgbClr val="7C3AED"/>
                </a:solidFill>
                <a:latin typeface="Montserrat"/>
              </a:rPr>
              <a:t>Aerchain agents</a:t>
            </a:r>
            <a:r>
              <a:rPr sz="3600" b="0" i="0">
                <a:solidFill>
                  <a:srgbClr val="1B1F26"/>
                </a:solidFill>
                <a:latin typeface="Montserrat"/>
              </a:rPr>
              <a:t>, running the sourcing cycle.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2286000"/>
            <a:ext cx="160934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84E59"/>
                </a:solidFill>
                <a:latin typeface="Montserrat"/>
              </a:rPr>
              <a:t>Each agent runs autonomously inside its station of the procure-to-pay flow, with human-in-the-loop guardrails configurable per category — all live in production.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58952" y="2944368"/>
            <a:ext cx="16770096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58952" y="3200400"/>
            <a:ext cx="3154680" cy="5623560"/>
          </a:xfrm>
          <a:prstGeom prst="roundRect">
            <a:avLst>
              <a:gd name="adj" fmla="val 2318"/>
            </a:avLst>
          </a:prstGeom>
          <a:solidFill>
            <a:srgbClr val="FFFFFF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58952" y="3200400"/>
            <a:ext cx="3154680" cy="5486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456432"/>
            <a:ext cx="2752344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7C3AED"/>
                </a:solidFill>
                <a:latin typeface="Consolas"/>
              </a:rPr>
              <a:t>AGENT 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675887"/>
            <a:ext cx="2752344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B1F26"/>
                </a:solidFill>
                <a:latin typeface="Montserrat Medium"/>
              </a:rPr>
              <a:t>Intake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160520"/>
            <a:ext cx="2752344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A707B"/>
                </a:solidFill>
                <a:latin typeface="Montserrat"/>
              </a:rPr>
              <a:t>Auto-ingests requests, cleans maverick descriptions, classifies &amp; enriches.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60120" y="5349240"/>
            <a:ext cx="2752344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60120" y="5486400"/>
            <a:ext cx="275234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60">
                <a:solidFill>
                  <a:srgbClr val="6A707B"/>
                </a:solidFill>
                <a:latin typeface="Consolas"/>
              </a:rPr>
              <a:t>↓ AERCHAIN CAPABILITY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715000"/>
            <a:ext cx="2752344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7C3AED"/>
                </a:solidFill>
                <a:latin typeface="Montserrat Medium"/>
              </a:rPr>
              <a:t>Intake &amp; Enrichment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6355080"/>
            <a:ext cx="2752344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84E59"/>
                </a:solidFill>
                <a:latin typeface="Montserrat"/>
              </a:rPr>
              <a:t>5 parallel sub-agents auto-tag GL, cost centre and taxonomy, and generate clarifying questions before the cycle starts.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8183879"/>
            <a:ext cx="2752344" cy="292608"/>
          </a:xfrm>
          <a:prstGeom prst="roundRect">
            <a:avLst>
              <a:gd name="adj" fmla="val 12500"/>
            </a:avLst>
          </a:prstGeom>
          <a:solidFill>
            <a:srgbClr val="E3F6EB"/>
          </a:solidFill>
          <a:ln w="9525">
            <a:solidFill>
              <a:srgbClr val="146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8183879"/>
            <a:ext cx="2752344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80">
                <a:solidFill>
                  <a:srgbClr val="146B3F"/>
                </a:solidFill>
                <a:latin typeface="Consolas"/>
              </a:rPr>
              <a:t>✓  LIVE · UNILEVER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69080" y="3200400"/>
            <a:ext cx="3154680" cy="5623560"/>
          </a:xfrm>
          <a:prstGeom prst="roundRect">
            <a:avLst>
              <a:gd name="adj" fmla="val 2318"/>
            </a:avLst>
          </a:prstGeom>
          <a:solidFill>
            <a:srgbClr val="FFFFFF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069080" y="3200400"/>
            <a:ext cx="3154680" cy="5486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70248" y="3456432"/>
            <a:ext cx="2752344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7C3AED"/>
                </a:solidFill>
                <a:latin typeface="Consolas"/>
              </a:rPr>
              <a:t>AGENT 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70248" y="3675887"/>
            <a:ext cx="2752344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B1F26"/>
                </a:solidFill>
                <a:latin typeface="Montserrat Medium"/>
              </a:rPr>
              <a:t>Sourcing 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70248" y="4160520"/>
            <a:ext cx="2752344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A707B"/>
                </a:solidFill>
                <a:latin typeface="Montserrat"/>
              </a:rPr>
              <a:t>Scouts the market and runs outreach across the existing supplier base.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270248" y="5349240"/>
            <a:ext cx="2752344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270248" y="5486400"/>
            <a:ext cx="275234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60">
                <a:solidFill>
                  <a:srgbClr val="6A707B"/>
                </a:solidFill>
                <a:latin typeface="Consolas"/>
              </a:rPr>
              <a:t>↓ AERCHAIN CAPABILITY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70248" y="5715000"/>
            <a:ext cx="2752344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7C3AED"/>
                </a:solidFill>
                <a:latin typeface="Montserrat Medium"/>
              </a:rPr>
              <a:t>Multi-Agent RFQ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70248" y="6355080"/>
            <a:ext cx="2752344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84E59"/>
                </a:solidFill>
                <a:latin typeface="Montserrat"/>
              </a:rPr>
              <a:t>Auto-builds SOW, scope and T&amp;Cs, then runs outreach, follow-up, query clarification and bid extraction autonomously.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70248" y="8183879"/>
            <a:ext cx="2752344" cy="292608"/>
          </a:xfrm>
          <a:prstGeom prst="roundRect">
            <a:avLst>
              <a:gd name="adj" fmla="val 12500"/>
            </a:avLst>
          </a:prstGeom>
          <a:solidFill>
            <a:srgbClr val="E3F6EB"/>
          </a:solidFill>
          <a:ln w="9525">
            <a:solidFill>
              <a:srgbClr val="146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70248" y="8183879"/>
            <a:ext cx="2752344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80">
                <a:solidFill>
                  <a:srgbClr val="146B3F"/>
                </a:solidFill>
                <a:latin typeface="Consolas"/>
              </a:rPr>
              <a:t>✓  LIVE · UNILEVER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379208" y="3200400"/>
            <a:ext cx="3154680" cy="5623560"/>
          </a:xfrm>
          <a:prstGeom prst="roundRect">
            <a:avLst>
              <a:gd name="adj" fmla="val 2318"/>
            </a:avLst>
          </a:prstGeom>
          <a:solidFill>
            <a:srgbClr val="FFFFFF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79208" y="3200400"/>
            <a:ext cx="3154680" cy="5486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80376" y="3456432"/>
            <a:ext cx="2752344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7C3AED"/>
                </a:solidFill>
                <a:latin typeface="Consolas"/>
              </a:rPr>
              <a:t>AGENT 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80376" y="3675887"/>
            <a:ext cx="2752344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B1F26"/>
                </a:solidFill>
                <a:latin typeface="Montserrat Medium"/>
              </a:rPr>
              <a:t>Negotiation Agent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80376" y="4160520"/>
            <a:ext cx="2752344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A707B"/>
                </a:solidFill>
                <a:latin typeface="Montserrat"/>
              </a:rPr>
              <a:t>Multi-parameter, asynchronous negotiations across price, terms &amp; lead time.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580376" y="5349240"/>
            <a:ext cx="2752344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580376" y="5486400"/>
            <a:ext cx="275234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60">
                <a:solidFill>
                  <a:srgbClr val="6A707B"/>
                </a:solidFill>
                <a:latin typeface="Consolas"/>
              </a:rPr>
              <a:t>↓ AERCHAIN CAPABILITY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80376" y="5715000"/>
            <a:ext cx="2752344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7C3AED"/>
                </a:solidFill>
                <a:latin typeface="Montserrat Medium"/>
              </a:rPr>
              <a:t>AI Negotiation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80376" y="6355080"/>
            <a:ext cx="2752344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84E59"/>
                </a:solidFill>
                <a:latin typeface="Montserrat"/>
              </a:rPr>
              <a:t>Multi-round, configurable-autonomy negotiations with price loading and total-cost normalisation across regions.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580376" y="8183879"/>
            <a:ext cx="2752344" cy="292608"/>
          </a:xfrm>
          <a:prstGeom prst="roundRect">
            <a:avLst>
              <a:gd name="adj" fmla="val 12500"/>
            </a:avLst>
          </a:prstGeom>
          <a:solidFill>
            <a:srgbClr val="E3F6EB"/>
          </a:solidFill>
          <a:ln w="9525">
            <a:solidFill>
              <a:srgbClr val="146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80376" y="8183879"/>
            <a:ext cx="2752344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80">
                <a:solidFill>
                  <a:srgbClr val="146B3F"/>
                </a:solidFill>
                <a:latin typeface="Consolas"/>
              </a:rPr>
              <a:t>✓  LIVE · UNILEVER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689336" y="3200400"/>
            <a:ext cx="3154680" cy="5623560"/>
          </a:xfrm>
          <a:prstGeom prst="roundRect">
            <a:avLst>
              <a:gd name="adj" fmla="val 2318"/>
            </a:avLst>
          </a:prstGeom>
          <a:solidFill>
            <a:srgbClr val="FFFFFF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689336" y="3200400"/>
            <a:ext cx="3154680" cy="5486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890504" y="3456432"/>
            <a:ext cx="2752344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7C3AED"/>
                </a:solidFill>
                <a:latin typeface="Consolas"/>
              </a:rPr>
              <a:t>AGENT 04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90504" y="3675887"/>
            <a:ext cx="2752344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B1F26"/>
                </a:solidFill>
                <a:latin typeface="Montserrat Medium"/>
              </a:rPr>
              <a:t>Evaluation Agent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890504" y="4160520"/>
            <a:ext cx="2752344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A707B"/>
                </a:solidFill>
                <a:latin typeface="Montserrat"/>
              </a:rPr>
              <a:t>Scores every bid; runs compliance and risk checks silently in the background.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10890504" y="5349240"/>
            <a:ext cx="2752344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10890504" y="5486400"/>
            <a:ext cx="275234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60">
                <a:solidFill>
                  <a:srgbClr val="6A707B"/>
                </a:solidFill>
                <a:latin typeface="Consolas"/>
              </a:rPr>
              <a:t>↓ AERCHAIN CAPABILITY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890504" y="5715000"/>
            <a:ext cx="2752344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7C3AED"/>
                </a:solidFill>
                <a:latin typeface="Montserrat Medium"/>
              </a:rPr>
              <a:t>Eval + Compliance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890504" y="6355080"/>
            <a:ext cx="2752344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84E59"/>
                </a:solidFill>
                <a:latin typeface="Montserrat"/>
              </a:rPr>
              <a:t>Configurable scoring matrix per category. Compliance runs as a subroutine — single decision surface, single audit entry.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890504" y="8183879"/>
            <a:ext cx="2752344" cy="292608"/>
          </a:xfrm>
          <a:prstGeom prst="roundRect">
            <a:avLst>
              <a:gd name="adj" fmla="val 12500"/>
            </a:avLst>
          </a:prstGeom>
          <a:solidFill>
            <a:srgbClr val="E3F6EB"/>
          </a:solidFill>
          <a:ln w="9525">
            <a:solidFill>
              <a:srgbClr val="146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890504" y="8183879"/>
            <a:ext cx="2752344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80">
                <a:solidFill>
                  <a:srgbClr val="146B3F"/>
                </a:solidFill>
                <a:latin typeface="Consolas"/>
              </a:rPr>
              <a:t>✓  LIVE · UNILEVER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3999464" y="3200400"/>
            <a:ext cx="3154680" cy="5623560"/>
          </a:xfrm>
          <a:prstGeom prst="roundRect">
            <a:avLst>
              <a:gd name="adj" fmla="val 2318"/>
            </a:avLst>
          </a:prstGeom>
          <a:solidFill>
            <a:srgbClr val="FFFFFF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3999464" y="3200400"/>
            <a:ext cx="3154680" cy="5486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4200632" y="3456432"/>
            <a:ext cx="2752344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7C3AED"/>
                </a:solidFill>
                <a:latin typeface="Consolas"/>
              </a:rPr>
              <a:t>AGENT 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200632" y="3675887"/>
            <a:ext cx="2752344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B1F26"/>
                </a:solidFill>
                <a:latin typeface="Montserrat Medium"/>
              </a:rPr>
              <a:t>Award Agent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4200632" y="4160520"/>
            <a:ext cx="2752344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A707B"/>
                </a:solidFill>
                <a:latin typeface="Montserrat"/>
              </a:rPr>
              <a:t>Generates award scenarios and recommends the optimal allocation.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14200632" y="5349240"/>
            <a:ext cx="2752344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14200632" y="5486400"/>
            <a:ext cx="275234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60">
                <a:solidFill>
                  <a:srgbClr val="6A707B"/>
                </a:solidFill>
                <a:latin typeface="Consolas"/>
              </a:rPr>
              <a:t>↓ AERCHAIN CAPABILITY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4200632" y="5715000"/>
            <a:ext cx="2752344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7C3AED"/>
                </a:solidFill>
                <a:latin typeface="Montserrat Medium"/>
              </a:rPr>
              <a:t>Scenario + Writeback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200632" y="6355080"/>
            <a:ext cx="2752344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84E59"/>
                </a:solidFill>
                <a:latin typeface="Montserrat"/>
              </a:rPr>
              <a:t>Constraint-aware allocation factors landed cost, capacity and terms; the approved award writes back to the ERP of record.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4200632" y="8183879"/>
            <a:ext cx="2752344" cy="292608"/>
          </a:xfrm>
          <a:prstGeom prst="roundRect">
            <a:avLst>
              <a:gd name="adj" fmla="val 12500"/>
            </a:avLst>
          </a:prstGeom>
          <a:solidFill>
            <a:srgbClr val="E3F6EB"/>
          </a:solidFill>
          <a:ln w="9525">
            <a:solidFill>
              <a:srgbClr val="146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4200632" y="8183879"/>
            <a:ext cx="2752344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80">
                <a:solidFill>
                  <a:srgbClr val="146B3F"/>
                </a:solidFill>
                <a:latin typeface="Consolas"/>
              </a:rPr>
              <a:t>✓  LIVE · UNILEVER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8952" y="9098280"/>
            <a:ext cx="16770096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B1F26"/>
                </a:solidFill>
                <a:latin typeface="Montserrat SemiBold"/>
              </a:rPr>
              <a:t>Delivery posture.  </a:t>
            </a:r>
            <a:r>
              <a:rPr sz="1300" b="0" i="0">
                <a:solidFill>
                  <a:srgbClr val="484E59"/>
                </a:solidFill>
                <a:latin typeface="Montserrat"/>
              </a:rPr>
              <a:t>All five agents are in production today across Aerchain customers — Intake, Sourcing, Negotiation, Evaluation and Award — orchestrated end-to-end, with the ERP kept as the system of record.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0" y="9902952"/>
            <a:ext cx="182880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0" y="9902952"/>
            <a:ext cx="18288000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758952" y="9902952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80">
                <a:solidFill>
                  <a:srgbClr val="6A707B"/>
                </a:solidFill>
                <a:latin typeface="Consolas"/>
              </a:rPr>
              <a:t>AERCHAIN × INFOSYS · AUTONOMOUS SOURCING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556248" y="9902952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80">
                <a:solidFill>
                  <a:srgbClr val="6A707B"/>
                </a:solidFill>
                <a:latin typeface="Consolas"/>
              </a:rPr>
              <a:t>CONFIDENTIAL · PREPARED FOR UNILEVER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0" y="914400"/>
            <a:ext cx="18288000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erchain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74320"/>
            <a:ext cx="2542032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56432" y="0"/>
            <a:ext cx="45720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A707B"/>
                </a:solidFill>
                <a:latin typeface="Consolas"/>
              </a:rPr>
              <a:t>×</a:t>
            </a:r>
          </a:p>
        </p:txBody>
      </p:sp>
      <p:pic>
        <p:nvPicPr>
          <p:cNvPr id="7" name="Picture 6" descr="infosys_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39" y="320040"/>
            <a:ext cx="960120" cy="283464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5321808" y="320040"/>
            <a:ext cx="0" cy="274319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513832" y="0"/>
            <a:ext cx="822960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6A707B"/>
                </a:solidFill>
                <a:latin typeface="Consolas"/>
              </a:rPr>
              <a:t>THE BUSINESS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0" y="0"/>
            <a:ext cx="155448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1F26"/>
                </a:solidFill>
                <a:latin typeface="Consolas"/>
              </a:rPr>
              <a:t>04</a:t>
            </a:r>
            <a:r>
              <a:rPr sz="1200" b="1" i="0">
                <a:solidFill>
                  <a:srgbClr val="6A707B"/>
                </a:solidFill>
                <a:latin typeface="Consolas"/>
              </a:rPr>
              <a:t> / 04</a:t>
            </a:r>
          </a:p>
        </p:txBody>
      </p:sp>
      <p:pic>
        <p:nvPicPr>
          <p:cNvPr id="11" name="Picture 10" descr="unilever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62120" y="246888"/>
            <a:ext cx="411480" cy="4572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58952" y="1179576"/>
            <a:ext cx="402336" cy="40233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179576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onsolas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1179576"/>
            <a:ext cx="1097280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7C3AED"/>
                </a:solidFill>
                <a:latin typeface="Consolas"/>
              </a:rPr>
              <a:t>VALUE &amp; RETURN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1627632"/>
            <a:ext cx="16770096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>
                <a:solidFill>
                  <a:srgbClr val="1B1F26"/>
                </a:solidFill>
                <a:latin typeface="Montserrat"/>
              </a:rPr>
              <a:t>A </a:t>
            </a:r>
            <a:r>
              <a:rPr sz="3600" b="0" i="0">
                <a:solidFill>
                  <a:srgbClr val="7C3AED"/>
                </a:solidFill>
                <a:latin typeface="Montserrat"/>
              </a:rPr>
              <a:t>1 : 58 return</a:t>
            </a:r>
            <a:r>
              <a:rPr sz="3600" b="0" i="0">
                <a:solidFill>
                  <a:srgbClr val="1B1F26"/>
                </a:solidFill>
                <a:latin typeface="Montserrat"/>
              </a:rPr>
              <a:t> — and it is already banked.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2286000"/>
            <a:ext cx="160934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84E59"/>
                </a:solidFill>
                <a:latin typeface="Montserrat"/>
              </a:rPr>
              <a:t>The numbers behind the deployment: addressable spend, committed savings, run cost, and the rollout path from here.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58952" y="2944368"/>
            <a:ext cx="16770096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58952" y="3200400"/>
            <a:ext cx="3931920" cy="1993392"/>
          </a:xfrm>
          <a:prstGeom prst="roundRect">
            <a:avLst>
              <a:gd name="adj" fmla="val 3669"/>
            </a:avLst>
          </a:prstGeom>
          <a:solidFill>
            <a:srgbClr val="FFFFFF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58952" y="3200400"/>
            <a:ext cx="54864" cy="19933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1" y="3456432"/>
            <a:ext cx="347472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1B1F26"/>
                </a:solidFill>
                <a:latin typeface="Montserrat Medium"/>
              </a:rPr>
              <a:t>$54M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1" y="425196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1F26"/>
                </a:solidFill>
                <a:latin typeface="Montserrat SemiBold"/>
              </a:rPr>
              <a:t>Addressable spend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1" y="461772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A707B"/>
                </a:solidFill>
                <a:latin typeface="Montserrat"/>
              </a:rPr>
              <a:t>Across 37 active sourcing projects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56632" y="3200400"/>
            <a:ext cx="3931920" cy="1993392"/>
          </a:xfrm>
          <a:prstGeom prst="roundRect">
            <a:avLst>
              <a:gd name="adj" fmla="val 3669"/>
            </a:avLst>
          </a:prstGeom>
          <a:solidFill>
            <a:srgbClr val="FFFFFF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56632" y="3200400"/>
            <a:ext cx="54864" cy="19933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30952" y="3456432"/>
            <a:ext cx="347472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1B1F26"/>
                </a:solidFill>
                <a:latin typeface="Montserrat Medium"/>
              </a:rPr>
              <a:t>10%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0952" y="425196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1F26"/>
                </a:solidFill>
                <a:latin typeface="Montserrat SemiBold"/>
              </a:rPr>
              <a:t>Average yield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0952" y="461772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A707B"/>
                </a:solidFill>
                <a:latin typeface="Montserrat"/>
              </a:rPr>
              <a:t>Realised savings rate per project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8952" y="5303520"/>
            <a:ext cx="3931920" cy="1993392"/>
          </a:xfrm>
          <a:prstGeom prst="roundRect">
            <a:avLst>
              <a:gd name="adj" fmla="val 3669"/>
            </a:avLst>
          </a:prstGeom>
          <a:solidFill>
            <a:srgbClr val="FFFFFF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58952" y="5303520"/>
            <a:ext cx="54864" cy="19933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1" y="5559552"/>
            <a:ext cx="347472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1B1F26"/>
                </a:solidFill>
                <a:latin typeface="Montserrat Medium"/>
              </a:rPr>
              <a:t>$5M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71" y="635508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1F26"/>
                </a:solidFill>
                <a:latin typeface="Montserrat SemiBold"/>
              </a:rPr>
              <a:t>Savings unlocked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1" y="672084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A707B"/>
                </a:solidFill>
                <a:latin typeface="Montserrat"/>
              </a:rPr>
              <a:t>Across projects at various stages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56632" y="5303520"/>
            <a:ext cx="3931920" cy="1993392"/>
          </a:xfrm>
          <a:prstGeom prst="roundRect">
            <a:avLst>
              <a:gd name="adj" fmla="val 3669"/>
            </a:avLst>
          </a:prstGeom>
          <a:solidFill>
            <a:srgbClr val="FFFFFF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56632" y="5303520"/>
            <a:ext cx="54864" cy="19933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30952" y="5559552"/>
            <a:ext cx="347472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1B1F26"/>
                </a:solidFill>
                <a:latin typeface="Montserrat Medium"/>
              </a:rPr>
              <a:t>$15.5M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30952" y="635508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1F26"/>
                </a:solidFill>
                <a:latin typeface="Montserrat SemiBold"/>
              </a:rPr>
              <a:t>Committed savings ·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30952" y="672084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A707B"/>
                </a:solidFill>
                <a:latin typeface="Montserrat"/>
              </a:rPr>
              <a:t>Target the platform is underwriting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8952" y="7406640"/>
            <a:ext cx="3931920" cy="1993392"/>
          </a:xfrm>
          <a:prstGeom prst="roundRect">
            <a:avLst>
              <a:gd name="adj" fmla="val 3669"/>
            </a:avLst>
          </a:prstGeom>
          <a:solidFill>
            <a:srgbClr val="FFFFFF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58952" y="7406640"/>
            <a:ext cx="54864" cy="19933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3271" y="7662672"/>
            <a:ext cx="347472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1B1F26"/>
                </a:solidFill>
                <a:latin typeface="Montserrat Medium"/>
              </a:rPr>
              <a:t>$265K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3271" y="84582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1F26"/>
                </a:solidFill>
                <a:latin typeface="Montserrat SemiBold"/>
              </a:rPr>
              <a:t>Annual platform cost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1" y="882396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A707B"/>
                </a:solidFill>
                <a:latin typeface="Montserrat"/>
              </a:rPr>
              <a:t>Fully-loaded run cost for 2026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56632" y="7406640"/>
            <a:ext cx="3931920" cy="1993392"/>
          </a:xfrm>
          <a:prstGeom prst="roundRect">
            <a:avLst>
              <a:gd name="adj" fmla="val 3669"/>
            </a:avLst>
          </a:prstGeom>
          <a:solidFill>
            <a:srgbClr val="FFFFFF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56632" y="7406640"/>
            <a:ext cx="54864" cy="19933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30952" y="7662672"/>
            <a:ext cx="347472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1B1F26"/>
                </a:solidFill>
                <a:latin typeface="Montserrat Medium"/>
              </a:rPr>
              <a:t>1 : 58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30952" y="84582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1F26"/>
                </a:solidFill>
                <a:latin typeface="Montserrat SemiBold"/>
              </a:rPr>
              <a:t>Return on investment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30952" y="882396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A707B"/>
                </a:solidFill>
                <a:latin typeface="Montserrat"/>
              </a:rPr>
              <a:t>Every $1 returns $58 in 2026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326880" y="3200400"/>
            <a:ext cx="8202168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92640" y="3493008"/>
            <a:ext cx="747064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7C3AED"/>
                </a:solidFill>
                <a:latin typeface="Consolas"/>
              </a:rPr>
              <a:t>SAVINGS MOMENTUM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75519" y="4800600"/>
            <a:ext cx="1371600" cy="731520"/>
          </a:xfrm>
          <a:prstGeom prst="roundRect">
            <a:avLst>
              <a:gd name="adj" fmla="val 3750"/>
            </a:avLst>
          </a:prstGeom>
          <a:solidFill>
            <a:srgbClr val="C4A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01199" y="4416552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B1F26"/>
                </a:solidFill>
                <a:latin typeface="Montserrat Medium"/>
              </a:rPr>
              <a:t>$8M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199" y="5577840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B1F26"/>
                </a:solidFill>
                <a:latin typeface="Montserrat SemiBold"/>
              </a:rPr>
              <a:t>2025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199" y="582472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707B"/>
                </a:solidFill>
                <a:latin typeface="Montserrat"/>
              </a:rPr>
              <a:t>$8M delivered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252959" y="4114800"/>
            <a:ext cx="1371600" cy="1417320"/>
          </a:xfrm>
          <a:prstGeom prst="roundRect">
            <a:avLst>
              <a:gd name="adj" fmla="val 2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978639" y="3730752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B1F26"/>
                </a:solidFill>
                <a:latin typeface="Montserrat Medium"/>
              </a:rPr>
              <a:t>$15.5M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978639" y="5577840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B1F26"/>
                </a:solidFill>
                <a:latin typeface="Montserrat SemiBold"/>
              </a:rPr>
              <a:t>2026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978639" y="582472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707B"/>
                </a:solidFill>
                <a:latin typeface="Montserrat"/>
              </a:rPr>
              <a:t>$15.5M committed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9738359" y="5532120"/>
            <a:ext cx="4937760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14721840" y="4114800"/>
            <a:ext cx="2532888" cy="1645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7C3AED"/>
                </a:solidFill>
                <a:latin typeface="Montserrat Medium"/>
              </a:rPr>
              <a:t>≈2×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84E59"/>
                </a:solidFill>
                <a:latin typeface="Montserrat"/>
              </a:rPr>
              <a:t>growth in committed savings, 2025 → 2026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326880" y="6172200"/>
            <a:ext cx="8202168" cy="3108960"/>
          </a:xfrm>
          <a:prstGeom prst="roundRect">
            <a:avLst>
              <a:gd name="adj" fmla="val 2941"/>
            </a:avLst>
          </a:prstGeom>
          <a:solidFill>
            <a:srgbClr val="16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92640" y="6464808"/>
            <a:ext cx="747064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E0CFFA"/>
                </a:solidFill>
                <a:latin typeface="Consolas"/>
              </a:rPr>
              <a:t>ROLLOUT ROADMAP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692640" y="7040880"/>
            <a:ext cx="2307336" cy="1737360"/>
          </a:xfrm>
          <a:prstGeom prst="roundRect">
            <a:avLst>
              <a:gd name="adj" fmla="val 3157"/>
            </a:avLst>
          </a:prstGeom>
          <a:solidFill>
            <a:srgbClr val="202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921240" y="7269480"/>
            <a:ext cx="1850136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20">
                <a:solidFill>
                  <a:srgbClr val="C4A8F7"/>
                </a:solidFill>
                <a:latin typeface="Consolas"/>
              </a:rPr>
              <a:t>NOW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21240" y="7607808"/>
            <a:ext cx="1850136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Montserrat Medium"/>
              </a:rPr>
              <a:t>Business Services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921240" y="8211312"/>
            <a:ext cx="1850136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0CFFA"/>
                </a:solidFill>
                <a:latin typeface="Montserrat"/>
              </a:rPr>
              <a:t>Live in production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981688" y="7589520"/>
            <a:ext cx="310896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C4A8F7"/>
                </a:solidFill>
                <a:latin typeface="Montserrat"/>
              </a:rPr>
              <a:t>→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2274295" y="7040880"/>
            <a:ext cx="2307336" cy="1737360"/>
          </a:xfrm>
          <a:prstGeom prst="roundRect">
            <a:avLst>
              <a:gd name="adj" fmla="val 3157"/>
            </a:avLst>
          </a:prstGeom>
          <a:solidFill>
            <a:srgbClr val="202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2502895" y="7269480"/>
            <a:ext cx="1850136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20">
                <a:solidFill>
                  <a:srgbClr val="C4A8F7"/>
                </a:solidFill>
                <a:latin typeface="Consolas"/>
              </a:rPr>
              <a:t>NEXT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502895" y="7607808"/>
            <a:ext cx="1850136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Montserrat Medium"/>
              </a:rPr>
              <a:t>Marketing &amp; IT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502895" y="8211312"/>
            <a:ext cx="1850136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0CFFA"/>
                </a:solidFill>
                <a:latin typeface="Montserrat"/>
              </a:rPr>
              <a:t>Infosys-managed spend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4563344" y="7589520"/>
            <a:ext cx="310896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C4A8F7"/>
                </a:solidFill>
                <a:latin typeface="Montserrat"/>
              </a:rPr>
              <a:t>→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4855952" y="7040880"/>
            <a:ext cx="2307336" cy="1737360"/>
          </a:xfrm>
          <a:prstGeom prst="roundRect">
            <a:avLst>
              <a:gd name="adj" fmla="val 3157"/>
            </a:avLst>
          </a:prstGeom>
          <a:solidFill>
            <a:srgbClr val="202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5084552" y="7269480"/>
            <a:ext cx="1850136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20">
                <a:solidFill>
                  <a:srgbClr val="C4A8F7"/>
                </a:solidFill>
                <a:latin typeface="Consolas"/>
              </a:rPr>
              <a:t>THEN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5084552" y="7607808"/>
            <a:ext cx="1850136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Montserrat Medium"/>
              </a:rPr>
              <a:t>Enterprise-wide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5084552" y="8211312"/>
            <a:ext cx="1850136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0CFFA"/>
                </a:solidFill>
                <a:latin typeface="Montserrat"/>
              </a:rPr>
              <a:t>Scaling beyond</a:t>
            </a:r>
          </a:p>
        </p:txBody>
      </p:sp>
      <p:sp>
        <p:nvSpPr>
          <p:cNvPr id="76" name="Rectangle 75"/>
          <p:cNvSpPr/>
          <p:nvPr/>
        </p:nvSpPr>
        <p:spPr>
          <a:xfrm>
            <a:off x="0" y="9902952"/>
            <a:ext cx="182880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0" y="9902952"/>
            <a:ext cx="18288000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758952" y="9902952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80">
                <a:solidFill>
                  <a:srgbClr val="6A707B"/>
                </a:solidFill>
                <a:latin typeface="Consolas"/>
              </a:rPr>
              <a:t>AERCHAIN × INFOSYS · AUTONOMOUS SOURCING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556248" y="9902952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80">
                <a:solidFill>
                  <a:srgbClr val="6A707B"/>
                </a:solidFill>
                <a:latin typeface="Consolas"/>
              </a:rPr>
              <a:t>CONFIDENTIAL · PREPARED FOR UNILEVER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