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84048"/>
            <a:ext cx="18288000" cy="9902952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6D28D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60120"/>
            <a:ext cx="18288000" cy="0"/>
          </a:xfrm>
          <a:prstGeom prst="bentConnector3">
            <a:avLst/>
          </a:prstGeom>
          <a:ln w="9525">
            <a:solidFill>
              <a:srgbClr val="E2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erchain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56032"/>
            <a:ext cx="2660904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74720" y="256032"/>
            <a:ext cx="50292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A707B"/>
                </a:solidFill>
                <a:latin typeface="Consolas"/>
              </a:rPr>
              <a:t>×</a:t>
            </a:r>
          </a:p>
        </p:txBody>
      </p:sp>
      <p:pic>
        <p:nvPicPr>
          <p:cNvPr id="7" name="Picture 6" descr="infosys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256032"/>
            <a:ext cx="1188720" cy="466344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5468112" y="274320"/>
            <a:ext cx="0" cy="411480"/>
          </a:xfrm>
          <a:prstGeom prst="bentConnector3">
            <a:avLst/>
          </a:prstGeom>
          <a:ln w="9525">
            <a:solidFill>
              <a:srgbClr val="E2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87568" y="0"/>
            <a:ext cx="822960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6A707B"/>
                </a:solidFill>
                <a:latin typeface="Consolas"/>
              </a:rPr>
              <a:t>EXECUTIVE BRIEFING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0" y="0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1F26"/>
                </a:solidFill>
                <a:latin typeface="Consolas"/>
              </a:rPr>
              <a:t>01</a:t>
            </a:r>
            <a:r>
              <a:rPr sz="1300" b="1" i="0">
                <a:solidFill>
                  <a:srgbClr val="6A707B"/>
                </a:solidFill>
                <a:latin typeface="Consolas"/>
              </a:rPr>
              <a:t> / 04</a:t>
            </a:r>
          </a:p>
        </p:txBody>
      </p:sp>
      <p:pic>
        <p:nvPicPr>
          <p:cNvPr id="11" name="Picture 10" descr="unilever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1808" y="155448"/>
            <a:ext cx="594360" cy="658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1810512"/>
            <a:ext cx="1463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A8F7"/>
                </a:solidFill>
                <a:latin typeface="Consolas"/>
              </a:rPr>
              <a:t>──── </a:t>
            </a:r>
            <a:r>
              <a:rPr sz="1300" b="1" i="0" spc="120">
                <a:solidFill>
                  <a:srgbClr val="E0CFFA"/>
                </a:solidFill>
                <a:latin typeface="Consolas"/>
              </a:rPr>
              <a:t>AERCHAIN × INFOSYS · DEPLOYED AT UNILEVER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331720"/>
            <a:ext cx="16824960" cy="3840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000" b="0" i="0">
                <a:solidFill>
                  <a:srgbClr val="FFFFFF"/>
                </a:solidFill>
                <a:latin typeface="Montserrat Medium"/>
              </a:rPr>
              <a:t>Autonomous Agentic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000" b="0" i="0">
                <a:solidFill>
                  <a:srgbClr val="FFFFFF"/>
                </a:solidFill>
                <a:latin typeface="Montserrat Medium"/>
              </a:rPr>
              <a:t>Sourcing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6800" b="0" i="0">
                <a:solidFill>
                  <a:srgbClr val="FFFFFF"/>
                </a:solidFill>
                <a:latin typeface="Montserrat Light"/>
              </a:rPr>
              <a:t>for Unilever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629400"/>
            <a:ext cx="150876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E0CFFA"/>
                </a:solidFill>
                <a:latin typeface="Montserrat Light"/>
              </a:rPr>
              <a:t>Infosys deploys Aerchain's autonomous-sourcing layer across Unilever — turning classical, manual sourcing into AI-driven, agent-run sourcing that is live and already delivering hard savings.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" y="7863840"/>
            <a:ext cx="16459200" cy="0"/>
          </a:xfrm>
          <a:prstGeom prst="bentConnector3">
            <a:avLst/>
          </a:prstGeom>
          <a:ln w="9525">
            <a:solidFill>
              <a:srgbClr val="C4A8F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8156448"/>
            <a:ext cx="3931920" cy="749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FFFFFF"/>
                </a:solidFill>
                <a:latin typeface="Montserrat"/>
              </a:rPr>
              <a:t>$5M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8942832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0CFFA"/>
                </a:solidFill>
                <a:latin typeface="Montserrat"/>
              </a:rPr>
              <a:t>Savings unlocked across 37 sourcing projects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8156448"/>
            <a:ext cx="3931920" cy="749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FFFFFF"/>
                </a:solidFill>
                <a:latin typeface="Montserrat"/>
              </a:rPr>
              <a:t>1 : 58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8942832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0CFFA"/>
                </a:solidFill>
                <a:latin typeface="Montserrat"/>
              </a:rPr>
              <a:t>Return on every dollar invested in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8156448"/>
            <a:ext cx="3931920" cy="749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FFFFFF"/>
                </a:solidFill>
                <a:latin typeface="Montserrat"/>
              </a:rPr>
              <a:t>$8M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8942832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0CFFA"/>
                </a:solidFill>
                <a:latin typeface="Montserrat"/>
              </a:rPr>
              <a:t>Hard savings already delivered in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0" y="8156448"/>
            <a:ext cx="3931920" cy="749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FFFFFF"/>
                </a:solidFill>
                <a:latin typeface="Montserrat"/>
              </a:rPr>
              <a:t>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0" y="8942832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0CFFA"/>
                </a:solidFill>
                <a:latin typeface="Montserrat"/>
              </a:rPr>
              <a:t>In production today for Business Services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9902952"/>
            <a:ext cx="182880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0" y="9902952"/>
            <a:ext cx="18288000" cy="0"/>
          </a:xfrm>
          <a:prstGeom prst="bentConnector3">
            <a:avLst/>
          </a:prstGeom>
          <a:ln w="9525">
            <a:solidFill>
              <a:srgbClr val="E2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58952" y="9902952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80">
                <a:solidFill>
                  <a:srgbClr val="6A707B"/>
                </a:solidFill>
                <a:latin typeface="Consolas"/>
              </a:rPr>
              <a:t>AERCHAIN · AGENTIC PROCUREMENT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6248" y="9902952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80">
                <a:solidFill>
                  <a:srgbClr val="6A707B"/>
                </a:solidFill>
                <a:latin typeface="Consolas"/>
              </a:rPr>
              <a:t>CONFIDENTIAL · PREPARED FOR UNILEVER · VIA INFOSYS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60120"/>
            <a:ext cx="18288000" cy="0"/>
          </a:xfrm>
          <a:prstGeom prst="bentConnector3">
            <a:avLst/>
          </a:prstGeom>
          <a:ln w="9525">
            <a:solidFill>
              <a:srgbClr val="E2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erchain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56032"/>
            <a:ext cx="2660904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74720" y="256032"/>
            <a:ext cx="50292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A707B"/>
                </a:solidFill>
                <a:latin typeface="Consolas"/>
              </a:rPr>
              <a:t>×</a:t>
            </a:r>
          </a:p>
        </p:txBody>
      </p:sp>
      <p:pic>
        <p:nvPicPr>
          <p:cNvPr id="7" name="Picture 6" descr="infosys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256032"/>
            <a:ext cx="1188720" cy="466344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5468112" y="274320"/>
            <a:ext cx="0" cy="411480"/>
          </a:xfrm>
          <a:prstGeom prst="bentConnector3">
            <a:avLst/>
          </a:prstGeom>
          <a:ln w="9525">
            <a:solidFill>
              <a:srgbClr val="E2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87568" y="0"/>
            <a:ext cx="822960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6A707B"/>
                </a:solidFill>
                <a:latin typeface="Consolas"/>
              </a:rPr>
              <a:t>AERCHAIN-AUTONOMOUS SOURCING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0" y="0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1F26"/>
                </a:solidFill>
                <a:latin typeface="Consolas"/>
              </a:rPr>
              <a:t>02</a:t>
            </a:r>
            <a:r>
              <a:rPr sz="1300" b="1" i="0">
                <a:solidFill>
                  <a:srgbClr val="6A707B"/>
                </a:solidFill>
                <a:latin typeface="Consolas"/>
              </a:rPr>
              <a:t> / 04</a:t>
            </a:r>
          </a:p>
        </p:txBody>
      </p:sp>
      <p:pic>
        <p:nvPicPr>
          <p:cNvPr id="11" name="Picture 10" descr="unilever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1808" y="155448"/>
            <a:ext cx="594360" cy="65836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58952" y="1216152"/>
            <a:ext cx="420624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21615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1216152"/>
            <a:ext cx="1097280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7C3AED"/>
                </a:solidFill>
                <a:latin typeface="Consolas"/>
              </a:rPr>
              <a:t>UNILEVER × INFOSYS × AERCHAIN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1719072"/>
            <a:ext cx="16770096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1B1F26"/>
                </a:solidFill>
                <a:latin typeface="Montserrat"/>
              </a:rPr>
              <a:t>From classical sourcing to </a:t>
            </a:r>
            <a:r>
              <a:rPr sz="4000" b="0" i="0">
                <a:solidFill>
                  <a:srgbClr val="7C3AED"/>
                </a:solidFill>
                <a:latin typeface="Montserrat"/>
              </a:rPr>
              <a:t>autonomous sourcing</a:t>
            </a:r>
            <a:r>
              <a:rPr sz="4000" b="0" i="0">
                <a:solidFill>
                  <a:srgbClr val="1B1F26"/>
                </a:solidFill>
                <a:latin typeface="Montserrat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2450592"/>
            <a:ext cx="160934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84E59"/>
                </a:solidFill>
                <a:latin typeface="Montserrat"/>
              </a:rPr>
              <a:t>What changed when Infosys deployed Aerchain's autonomous-sourcing layer at Unilever — and the value it is already delivering.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8952" y="3054096"/>
            <a:ext cx="16770096" cy="0"/>
          </a:xfrm>
          <a:prstGeom prst="bentConnector3">
            <a:avLst/>
          </a:prstGeom>
          <a:ln w="9525">
            <a:solidFill>
              <a:srgbClr val="E2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8952" y="3246120"/>
            <a:ext cx="3456432" cy="6355080"/>
          </a:xfrm>
          <a:prstGeom prst="roundRect">
            <a:avLst>
              <a:gd name="adj" fmla="val 2645"/>
            </a:avLst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952" y="3246120"/>
            <a:ext cx="3456432" cy="64008"/>
          </a:xfrm>
          <a:prstGeom prst="rect">
            <a:avLst/>
          </a:prstGeom>
          <a:solidFill>
            <a:srgbClr val="6A7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3" y="3557015"/>
            <a:ext cx="294436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50">
                <a:solidFill>
                  <a:srgbClr val="6A707B"/>
                </a:solidFill>
                <a:latin typeface="Consolas"/>
              </a:rPr>
              <a:t>BEFORE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3" y="3831335"/>
            <a:ext cx="294436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B1F26"/>
                </a:solidFill>
                <a:latin typeface="Montserrat Medium"/>
              </a:rPr>
              <a:t>Classical sourcing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3" y="4663440"/>
            <a:ext cx="3108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707B"/>
                </a:solidFill>
                <a:latin typeface="Montserrat SemiBold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0744" y="4645152"/>
            <a:ext cx="257860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84E59"/>
                </a:solidFill>
                <a:latin typeface="Montserrat"/>
              </a:rPr>
              <a:t>Classical, manual sourcing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3" y="5449824"/>
            <a:ext cx="3108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707B"/>
                </a:solidFill>
                <a:latin typeface="Montserrat SemiBold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0744" y="5431536"/>
            <a:ext cx="257860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84E59"/>
                </a:solidFill>
                <a:latin typeface="Montserrat"/>
              </a:rPr>
              <a:t>Heavy Excel dependency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3" y="6236208"/>
            <a:ext cx="3108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707B"/>
                </a:solidFill>
                <a:latin typeface="Montserrat SemiBold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0744" y="6217920"/>
            <a:ext cx="257860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84E59"/>
                </a:solidFill>
                <a:latin typeface="Montserrat"/>
              </a:rPr>
              <a:t>Time &amp; resource constraints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3" y="7022592"/>
            <a:ext cx="3108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707B"/>
                </a:solidFill>
                <a:latin typeface="Montserrat SemiBold"/>
              </a:rP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0744" y="7004304"/>
            <a:ext cx="257860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84E59"/>
                </a:solidFill>
                <a:latin typeface="Montserrat"/>
              </a:rPr>
              <a:t>Gaps in category expertise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3" y="7808976"/>
            <a:ext cx="3108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707B"/>
                </a:solidFill>
                <a:latin typeface="Montserrat SemiBold"/>
              </a:rP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0744" y="7790688"/>
            <a:ext cx="257860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84E59"/>
                </a:solidFill>
                <a:latin typeface="Montserrat"/>
              </a:rPr>
              <a:t>Limited negotiation leverage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3" y="8595360"/>
            <a:ext cx="3108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707B"/>
                </a:solidFill>
                <a:latin typeface="Montserrat SemiBold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0744" y="8577072"/>
            <a:ext cx="257860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84E59"/>
                </a:solidFill>
                <a:latin typeface="Montserrat"/>
              </a:rPr>
              <a:t>Reliance on past data &amp; benchmarks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70832" y="3246120"/>
            <a:ext cx="3584448" cy="635508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70832" y="3246120"/>
            <a:ext cx="3584448" cy="640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26864" y="3557015"/>
            <a:ext cx="307238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7C3AED"/>
                </a:solidFill>
                <a:latin typeface="Consolas"/>
              </a:rPr>
              <a:t>NOW · WITH INFOSYS-AERCHAIN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26864" y="3831335"/>
            <a:ext cx="307238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B1F26"/>
                </a:solidFill>
                <a:latin typeface="Montserrat Medium"/>
              </a:rPr>
              <a:t>Autonomous sourcing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26864" y="4663440"/>
            <a:ext cx="3108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C3AED"/>
                </a:solidFill>
                <a:latin typeface="Montserrat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10912" y="4645152"/>
            <a:ext cx="2688336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1F26"/>
                </a:solidFill>
                <a:latin typeface="Montserrat"/>
              </a:rPr>
              <a:t>AI-driven, time-saving sourcing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26864" y="5449824"/>
            <a:ext cx="3108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C3AED"/>
                </a:solidFill>
                <a:latin typeface="Montserrat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10912" y="5431536"/>
            <a:ext cx="2688336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1F26"/>
                </a:solidFill>
                <a:latin typeface="Montserrat"/>
              </a:rPr>
              <a:t>Automated quotes, RFx &amp; questionnaires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26864" y="6236208"/>
            <a:ext cx="3108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C3AED"/>
                </a:solidFill>
                <a:latin typeface="Montserrat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10912" y="6217920"/>
            <a:ext cx="2688336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1F26"/>
                </a:solidFill>
                <a:latin typeface="Montserrat"/>
              </a:rPr>
              <a:t>Intelligent supplier ranking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26864" y="7022592"/>
            <a:ext cx="3108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C3AED"/>
                </a:solidFill>
                <a:latin typeface="Montserrat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10912" y="7004304"/>
            <a:ext cx="2688336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1F26"/>
                </a:solidFill>
                <a:latin typeface="Montserrat"/>
              </a:rPr>
              <a:t>Automated comms, live tracking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26864" y="7808976"/>
            <a:ext cx="3108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C3AED"/>
                </a:solidFill>
                <a:latin typeface="Montserrat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10912" y="7790688"/>
            <a:ext cx="2688336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1F26"/>
                </a:solidFill>
                <a:latin typeface="Montserrat"/>
              </a:rPr>
              <a:t>AI-powered insights &amp; query support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26864" y="8595360"/>
            <a:ext cx="31089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C3AED"/>
                </a:solidFill>
                <a:latin typeface="Montserrat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10912" y="8577072"/>
            <a:ext cx="2688336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1F26"/>
                </a:solidFill>
                <a:latin typeface="Montserrat"/>
              </a:rPr>
              <a:t>Improved negotiation &amp; faster value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83879" y="3246120"/>
            <a:ext cx="3429000" cy="6355080"/>
          </a:xfrm>
          <a:prstGeom prst="roundRect">
            <a:avLst>
              <a:gd name="adj" fmla="val 3200"/>
            </a:avLst>
          </a:prstGeom>
          <a:gradFill rotWithShape="1">
            <a:gsLst>
              <a:gs pos="0">
                <a:srgbClr val="2E1065"/>
              </a:gs>
              <a:gs pos="100000">
                <a:srgbClr val="4C1D95"/>
              </a:gs>
            </a:gsLst>
            <a:lin scaled="0" ang="186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76488" y="3575303"/>
            <a:ext cx="28437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00">
                <a:solidFill>
                  <a:srgbClr val="FFFFFF"/>
                </a:solidFill>
                <a:latin typeface="Consolas"/>
              </a:rPr>
              <a:t>OUTCOME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476488" y="4032504"/>
            <a:ext cx="2843784" cy="0"/>
          </a:xfrm>
          <a:prstGeom prst="bentConnector3">
            <a:avLst/>
          </a:prstGeom>
          <a:ln w="9525">
            <a:solidFill>
              <a:srgbClr val="7E5B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476488" y="4325112"/>
            <a:ext cx="284378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FFFFFF"/>
                </a:solidFill>
                <a:latin typeface="Montserrat"/>
              </a:rPr>
              <a:t>$5M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76488" y="5148072"/>
            <a:ext cx="2843784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8C9F5"/>
                </a:solidFill>
                <a:latin typeface="Montserrat"/>
              </a:rPr>
              <a:t>Savings on a $54M spend across 37 sourcing projects — 10% average yield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476488" y="5949696"/>
            <a:ext cx="2843784" cy="0"/>
          </a:xfrm>
          <a:prstGeom prst="bentConnector3">
            <a:avLst/>
          </a:prstGeom>
          <a:ln w="6350">
            <a:solidFill>
              <a:srgbClr val="7E5B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476488" y="6077712"/>
            <a:ext cx="284378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FFFFFF"/>
                </a:solidFill>
                <a:latin typeface="Montserrat"/>
              </a:rPr>
              <a:t>Live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76488" y="6900672"/>
            <a:ext cx="2843784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8C9F5"/>
                </a:solidFill>
                <a:latin typeface="Montserrat"/>
              </a:rPr>
              <a:t>In production today for Unilever Business Services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476488" y="7702296"/>
            <a:ext cx="2843784" cy="0"/>
          </a:xfrm>
          <a:prstGeom prst="bentConnector3">
            <a:avLst/>
          </a:prstGeom>
          <a:ln w="6350">
            <a:solidFill>
              <a:srgbClr val="7E5B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8476488" y="7830311"/>
            <a:ext cx="284378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FFFFFF"/>
                </a:solidFill>
                <a:latin typeface="Montserrat"/>
              </a:rPr>
              <a:t>Scaling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76488" y="8653272"/>
            <a:ext cx="2843784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8C9F5"/>
                </a:solidFill>
                <a:latin typeface="Montserrat"/>
              </a:rPr>
              <a:t>Across Marketing &amp; IT for Infosys-managed spend, and beyond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1841480" y="3246120"/>
            <a:ext cx="5687568" cy="6355080"/>
          </a:xfrm>
          <a:prstGeom prst="roundRect">
            <a:avLst>
              <a:gd name="adj" fmla="val 1929"/>
            </a:avLst>
          </a:prstGeom>
          <a:gradFill rotWithShape="1">
            <a:gsLst>
              <a:gs pos="0">
                <a:srgbClr val="6D28D9"/>
              </a:gs>
              <a:gs pos="100000">
                <a:srgbClr val="9333EA"/>
              </a:gs>
            </a:gsLst>
            <a:lin scaled="0" ang="186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2207240" y="3575303"/>
            <a:ext cx="495604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00">
                <a:solidFill>
                  <a:srgbClr val="FFFFFF"/>
                </a:solidFill>
                <a:latin typeface="Consolas"/>
              </a:rPr>
              <a:t>IMPACT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2207240" y="4032504"/>
            <a:ext cx="4956048" cy="0"/>
          </a:xfrm>
          <a:prstGeom prst="bentConnector3">
            <a:avLst/>
          </a:prstGeom>
          <a:ln w="9525">
            <a:solidFill>
              <a:srgbClr val="B98D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12207240" y="4297679"/>
            <a:ext cx="234086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FFFFFF"/>
                </a:solidFill>
                <a:latin typeface="Montserrat Medium"/>
              </a:rPr>
              <a:t>1 : 58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207240" y="5138927"/>
            <a:ext cx="2340864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FFFFFF"/>
                </a:solidFill>
                <a:latin typeface="Montserrat SemiBold"/>
              </a:rPr>
              <a:t>Return on investment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207240" y="5504688"/>
            <a:ext cx="2340864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CE3FF"/>
                </a:solidFill>
                <a:latin typeface="Montserrat"/>
              </a:rPr>
              <a:t>On $15.5M committed savings, 2026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12207240" y="6739127"/>
            <a:ext cx="2340864" cy="0"/>
          </a:xfrm>
          <a:prstGeom prst="bentConnector3">
            <a:avLst/>
          </a:prstGeom>
          <a:ln w="6350">
            <a:solidFill>
              <a:srgbClr val="B98D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4822424" y="4297679"/>
            <a:ext cx="234086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FFFFFF"/>
                </a:solidFill>
                <a:latin typeface="Montserrat Medium"/>
              </a:rPr>
              <a:t>$265K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822424" y="5138927"/>
            <a:ext cx="2340864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FFFFFF"/>
                </a:solidFill>
                <a:latin typeface="Montserrat SemiBold"/>
              </a:rPr>
              <a:t>Annual platform cost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4822424" y="5504688"/>
            <a:ext cx="2340864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CE3FF"/>
                </a:solidFill>
                <a:latin typeface="Montserrat"/>
              </a:rPr>
              <a:t>Fully-loaded run cost for 2026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4822424" y="6739127"/>
            <a:ext cx="2340864" cy="0"/>
          </a:xfrm>
          <a:prstGeom prst="bentConnector3">
            <a:avLst/>
          </a:prstGeom>
          <a:ln w="6350">
            <a:solidFill>
              <a:srgbClr val="B98D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2207240" y="6903719"/>
            <a:ext cx="234086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FFFFFF"/>
                </a:solidFill>
                <a:latin typeface="Montserrat Medium"/>
              </a:rPr>
              <a:t>$8M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207240" y="7744967"/>
            <a:ext cx="2340864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FFFFFF"/>
                </a:solidFill>
                <a:latin typeface="Montserrat SemiBold"/>
              </a:rPr>
              <a:t>Hard savings in 2025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207240" y="8110727"/>
            <a:ext cx="2340864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CE3FF"/>
                </a:solidFill>
                <a:latin typeface="Montserrat"/>
              </a:rPr>
              <a:t>Delivered, banked, audited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4822424" y="6903719"/>
            <a:ext cx="234086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FFFFFF"/>
                </a:solidFill>
                <a:latin typeface="Montserrat Medium"/>
              </a:rPr>
              <a:t>~3%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4822424" y="7744967"/>
            <a:ext cx="2340864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FFFFFF"/>
                </a:solidFill>
                <a:latin typeface="Montserrat SemiBold"/>
              </a:rPr>
              <a:t>FTE efficiency gain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4822424" y="8110727"/>
            <a:ext cx="2340864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CE3FF"/>
                </a:solidFill>
                <a:latin typeface="Montserrat"/>
              </a:rPr>
              <a:t>Year on year, plus negotiation uplift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9902952"/>
            <a:ext cx="182880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0" y="9902952"/>
            <a:ext cx="18288000" cy="0"/>
          </a:xfrm>
          <a:prstGeom prst="bentConnector3">
            <a:avLst/>
          </a:prstGeom>
          <a:ln w="9525">
            <a:solidFill>
              <a:srgbClr val="E2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758952" y="9902952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80">
                <a:solidFill>
                  <a:srgbClr val="6A707B"/>
                </a:solidFill>
                <a:latin typeface="Consolas"/>
              </a:rPr>
              <a:t>AERCHAIN × INFOSYS · AUTONOMOUS SOURCING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56248" y="9902952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80">
                <a:solidFill>
                  <a:srgbClr val="6A707B"/>
                </a:solidFill>
                <a:latin typeface="Consolas"/>
              </a:rPr>
              <a:t>CONFIDENTIAL · PREPARED FOR UNILEVER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60120"/>
            <a:ext cx="18288000" cy="0"/>
          </a:xfrm>
          <a:prstGeom prst="bentConnector3">
            <a:avLst/>
          </a:prstGeom>
          <a:ln w="9525">
            <a:solidFill>
              <a:srgbClr val="E2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erchain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56032"/>
            <a:ext cx="2660904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74720" y="256032"/>
            <a:ext cx="50292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A707B"/>
                </a:solidFill>
                <a:latin typeface="Consolas"/>
              </a:rPr>
              <a:t>×</a:t>
            </a:r>
          </a:p>
        </p:txBody>
      </p:sp>
      <p:pic>
        <p:nvPicPr>
          <p:cNvPr id="7" name="Picture 6" descr="infosys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256032"/>
            <a:ext cx="1188720" cy="466344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5468112" y="274320"/>
            <a:ext cx="0" cy="411480"/>
          </a:xfrm>
          <a:prstGeom prst="bentConnector3">
            <a:avLst/>
          </a:prstGeom>
          <a:ln w="9525">
            <a:solidFill>
              <a:srgbClr val="E2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87568" y="0"/>
            <a:ext cx="822960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6A707B"/>
                </a:solidFill>
                <a:latin typeface="Consolas"/>
              </a:rPr>
              <a:t>HOW IT WORKS · THE AGENTIC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0" y="0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1F26"/>
                </a:solidFill>
                <a:latin typeface="Consolas"/>
              </a:rPr>
              <a:t>03</a:t>
            </a:r>
            <a:r>
              <a:rPr sz="1300" b="1" i="0">
                <a:solidFill>
                  <a:srgbClr val="6A707B"/>
                </a:solidFill>
                <a:latin typeface="Consolas"/>
              </a:rPr>
              <a:t> / 04</a:t>
            </a:r>
          </a:p>
        </p:txBody>
      </p:sp>
      <p:pic>
        <p:nvPicPr>
          <p:cNvPr id="11" name="Picture 10" descr="unilever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1808" y="155448"/>
            <a:ext cx="594360" cy="65836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58952" y="1216152"/>
            <a:ext cx="420624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21615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1216152"/>
            <a:ext cx="1097280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7C3AED"/>
                </a:solidFill>
                <a:latin typeface="Consolas"/>
              </a:rPr>
              <a:t>CAPABILITY 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1719072"/>
            <a:ext cx="16770096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1B1F26"/>
                </a:solidFill>
                <a:latin typeface="Montserrat"/>
              </a:rPr>
              <a:t>Five </a:t>
            </a:r>
            <a:r>
              <a:rPr sz="4000" b="0" i="0">
                <a:solidFill>
                  <a:srgbClr val="7C3AED"/>
                </a:solidFill>
                <a:latin typeface="Montserrat"/>
              </a:rPr>
              <a:t>Aerchain agents</a:t>
            </a:r>
            <a:r>
              <a:rPr sz="4000" b="0" i="0">
                <a:solidFill>
                  <a:srgbClr val="1B1F26"/>
                </a:solidFill>
                <a:latin typeface="Montserrat"/>
              </a:rPr>
              <a:t>, running the sourcing cycle.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2450592"/>
            <a:ext cx="160934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84E59"/>
                </a:solidFill>
                <a:latin typeface="Montserrat"/>
              </a:rPr>
              <a:t>Each agent runs autonomously inside its station of the procure-to-pay flow, with human-in-the-loop guardrails per category — all live in production.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8952" y="3054096"/>
            <a:ext cx="16770096" cy="0"/>
          </a:xfrm>
          <a:prstGeom prst="bentConnector3">
            <a:avLst/>
          </a:prstGeom>
          <a:ln w="9525">
            <a:solidFill>
              <a:srgbClr val="E2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8952" y="3291840"/>
            <a:ext cx="3154680" cy="4892040"/>
          </a:xfrm>
          <a:prstGeom prst="roundRect">
            <a:avLst>
              <a:gd name="adj" fmla="val 2898"/>
            </a:avLst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952" y="3291840"/>
            <a:ext cx="3154680" cy="640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14983" y="3602736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1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on_intake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287" y="3749039"/>
            <a:ext cx="365760" cy="3657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37943" y="3602736"/>
            <a:ext cx="1819656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7C3AED"/>
                </a:solidFill>
                <a:latin typeface="Consolas"/>
              </a:rPr>
              <a:t>AGENT 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3" y="4480560"/>
            <a:ext cx="2642616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B1F26"/>
                </a:solidFill>
                <a:latin typeface="Montserrat Medium"/>
              </a:rPr>
              <a:t>Intake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3" y="5120640"/>
            <a:ext cx="264261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C3AED"/>
                </a:solidFill>
                <a:latin typeface="Montserrat Medium"/>
              </a:rPr>
              <a:t>Intake &amp; Enrichment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4983" y="5687568"/>
            <a:ext cx="2642616" cy="438912"/>
          </a:xfrm>
          <a:prstGeom prst="roundRect">
            <a:avLst>
              <a:gd name="adj" fmla="val 50000"/>
            </a:avLst>
          </a:prstGeom>
          <a:solidFill>
            <a:srgbClr val="F1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3" y="5687568"/>
            <a:ext cx="2642616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D28D9"/>
                </a:solidFill>
                <a:latin typeface="Montserrat SemiBold"/>
              </a:rPr>
              <a:t>Auto-ingest PRs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4983" y="6236208"/>
            <a:ext cx="2642616" cy="438912"/>
          </a:xfrm>
          <a:prstGeom prst="roundRect">
            <a:avLst>
              <a:gd name="adj" fmla="val 50000"/>
            </a:avLst>
          </a:prstGeom>
          <a:solidFill>
            <a:srgbClr val="F1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983" y="6236208"/>
            <a:ext cx="2642616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D28D9"/>
                </a:solidFill>
                <a:latin typeface="Montserrat SemiBold"/>
              </a:rPr>
              <a:t>Clean &amp; classify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4983" y="6784848"/>
            <a:ext cx="2642616" cy="438912"/>
          </a:xfrm>
          <a:prstGeom prst="roundRect">
            <a:avLst>
              <a:gd name="adj" fmla="val 50000"/>
            </a:avLst>
          </a:prstGeom>
          <a:solidFill>
            <a:srgbClr val="F1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3" y="6784848"/>
            <a:ext cx="2642616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D28D9"/>
                </a:solidFill>
                <a:latin typeface="Montserrat SemiBold"/>
              </a:rPr>
              <a:t>Enrich &amp; tag spend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4983" y="7516368"/>
            <a:ext cx="2642616" cy="420624"/>
          </a:xfrm>
          <a:prstGeom prst="roundRect">
            <a:avLst>
              <a:gd name="adj" fmla="val 50000"/>
            </a:avLst>
          </a:prstGeom>
          <a:solidFill>
            <a:srgbClr val="E3F6EB"/>
          </a:solidFill>
          <a:ln w="9525">
            <a:solidFill>
              <a:srgbClr val="146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4983" y="7516368"/>
            <a:ext cx="2642616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80">
                <a:solidFill>
                  <a:srgbClr val="146B3F"/>
                </a:solidFill>
                <a:latin typeface="Consolas"/>
              </a:rPr>
              <a:t>✓  LIVE · UNILEVER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69080" y="3291840"/>
            <a:ext cx="3154680" cy="4892040"/>
          </a:xfrm>
          <a:prstGeom prst="roundRect">
            <a:avLst>
              <a:gd name="adj" fmla="val 2898"/>
            </a:avLst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069080" y="3291840"/>
            <a:ext cx="3154680" cy="640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325112" y="3602736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1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con_sourcing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1416" y="3749039"/>
            <a:ext cx="365760" cy="36576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148072" y="3602736"/>
            <a:ext cx="1819656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7C3AED"/>
                </a:solidFill>
                <a:latin typeface="Consolas"/>
              </a:rPr>
              <a:t>AGENT 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25112" y="4480560"/>
            <a:ext cx="2642616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B1F26"/>
                </a:solidFill>
                <a:latin typeface="Montserrat Medium"/>
              </a:rPr>
              <a:t>Sourcing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25112" y="5120640"/>
            <a:ext cx="264261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C3AED"/>
                </a:solidFill>
                <a:latin typeface="Montserrat Medium"/>
              </a:rPr>
              <a:t>Multi-Agent RFQ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25112" y="5687568"/>
            <a:ext cx="2642616" cy="438912"/>
          </a:xfrm>
          <a:prstGeom prst="roundRect">
            <a:avLst>
              <a:gd name="adj" fmla="val 50000"/>
            </a:avLst>
          </a:prstGeom>
          <a:solidFill>
            <a:srgbClr val="F1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25112" y="5687568"/>
            <a:ext cx="2642616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D28D9"/>
                </a:solidFill>
                <a:latin typeface="Montserrat SemiBold"/>
              </a:rPr>
              <a:t>Build RFQ pack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25112" y="6236208"/>
            <a:ext cx="2642616" cy="438912"/>
          </a:xfrm>
          <a:prstGeom prst="roundRect">
            <a:avLst>
              <a:gd name="adj" fmla="val 50000"/>
            </a:avLst>
          </a:prstGeom>
          <a:solidFill>
            <a:srgbClr val="F1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25112" y="6236208"/>
            <a:ext cx="2642616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D28D9"/>
                </a:solidFill>
                <a:latin typeface="Montserrat SemiBold"/>
              </a:rPr>
              <a:t>Run outreach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25112" y="6784848"/>
            <a:ext cx="2642616" cy="438912"/>
          </a:xfrm>
          <a:prstGeom prst="roundRect">
            <a:avLst>
              <a:gd name="adj" fmla="val 50000"/>
            </a:avLst>
          </a:prstGeom>
          <a:solidFill>
            <a:srgbClr val="F1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25112" y="6784848"/>
            <a:ext cx="2642616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D28D9"/>
                </a:solidFill>
                <a:latin typeface="Montserrat SemiBold"/>
              </a:rPr>
              <a:t>Extract bids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25112" y="7516368"/>
            <a:ext cx="2642616" cy="420624"/>
          </a:xfrm>
          <a:prstGeom prst="roundRect">
            <a:avLst>
              <a:gd name="adj" fmla="val 50000"/>
            </a:avLst>
          </a:prstGeom>
          <a:solidFill>
            <a:srgbClr val="E3F6EB"/>
          </a:solidFill>
          <a:ln w="9525">
            <a:solidFill>
              <a:srgbClr val="146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25112" y="7516368"/>
            <a:ext cx="2642616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80">
                <a:solidFill>
                  <a:srgbClr val="146B3F"/>
                </a:solidFill>
                <a:latin typeface="Consolas"/>
              </a:rPr>
              <a:t>✓  LIVE · UNILEVER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79208" y="3291840"/>
            <a:ext cx="3154680" cy="4892040"/>
          </a:xfrm>
          <a:prstGeom prst="roundRect">
            <a:avLst>
              <a:gd name="adj" fmla="val 2898"/>
            </a:avLst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379208" y="3291840"/>
            <a:ext cx="3154680" cy="640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635240" y="3602736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1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con_negotiation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1544" y="3749039"/>
            <a:ext cx="365760" cy="36576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8458200" y="3602736"/>
            <a:ext cx="1819656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7C3AED"/>
                </a:solidFill>
                <a:latin typeface="Consolas"/>
              </a:rPr>
              <a:t>AGENT 03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4480560"/>
            <a:ext cx="2642616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B1F26"/>
                </a:solidFill>
                <a:latin typeface="Montserrat Medium"/>
              </a:rPr>
              <a:t>Negotiation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5120640"/>
            <a:ext cx="264261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C3AED"/>
                </a:solidFill>
                <a:latin typeface="Montserrat Medium"/>
              </a:rPr>
              <a:t>AI Negotiation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635240" y="5687568"/>
            <a:ext cx="2642616" cy="438912"/>
          </a:xfrm>
          <a:prstGeom prst="roundRect">
            <a:avLst>
              <a:gd name="adj" fmla="val 50000"/>
            </a:avLst>
          </a:prstGeom>
          <a:solidFill>
            <a:srgbClr val="F1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35240" y="5687568"/>
            <a:ext cx="2642616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D28D9"/>
                </a:solidFill>
                <a:latin typeface="Montserrat SemiBold"/>
              </a:rPr>
              <a:t>Multi-round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635240" y="6236208"/>
            <a:ext cx="2642616" cy="438912"/>
          </a:xfrm>
          <a:prstGeom prst="roundRect">
            <a:avLst>
              <a:gd name="adj" fmla="val 50000"/>
            </a:avLst>
          </a:prstGeom>
          <a:solidFill>
            <a:srgbClr val="F1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35240" y="6236208"/>
            <a:ext cx="2642616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D28D9"/>
                </a:solidFill>
                <a:latin typeface="Montserrat SemiBold"/>
              </a:rPr>
              <a:t>Price &amp; terms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635240" y="6784848"/>
            <a:ext cx="2642616" cy="438912"/>
          </a:xfrm>
          <a:prstGeom prst="roundRect">
            <a:avLst>
              <a:gd name="adj" fmla="val 50000"/>
            </a:avLst>
          </a:prstGeom>
          <a:solidFill>
            <a:srgbClr val="F1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35240" y="6784848"/>
            <a:ext cx="2642616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D28D9"/>
                </a:solidFill>
                <a:latin typeface="Montserrat SemiBold"/>
              </a:rPr>
              <a:t>Auto-negotiate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635240" y="7516368"/>
            <a:ext cx="2642616" cy="420624"/>
          </a:xfrm>
          <a:prstGeom prst="roundRect">
            <a:avLst>
              <a:gd name="adj" fmla="val 50000"/>
            </a:avLst>
          </a:prstGeom>
          <a:solidFill>
            <a:srgbClr val="E3F6EB"/>
          </a:solidFill>
          <a:ln w="9525">
            <a:solidFill>
              <a:srgbClr val="146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35240" y="7516368"/>
            <a:ext cx="2642616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80">
                <a:solidFill>
                  <a:srgbClr val="146B3F"/>
                </a:solidFill>
                <a:latin typeface="Consolas"/>
              </a:rPr>
              <a:t>✓  LIVE · UNILEVER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689336" y="3291840"/>
            <a:ext cx="3154680" cy="4892040"/>
          </a:xfrm>
          <a:prstGeom prst="roundRect">
            <a:avLst>
              <a:gd name="adj" fmla="val 2898"/>
            </a:avLst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689336" y="3291840"/>
            <a:ext cx="3154680" cy="640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0945367" y="3602736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1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con_evaluation_pur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91672" y="3749039"/>
            <a:ext cx="365760" cy="36576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1768328" y="3602736"/>
            <a:ext cx="1819656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7C3AED"/>
                </a:solidFill>
                <a:latin typeface="Consolas"/>
              </a:rPr>
              <a:t>AGENT 04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945367" y="4480560"/>
            <a:ext cx="2642616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B1F26"/>
                </a:solidFill>
                <a:latin typeface="Montserrat Medium"/>
              </a:rPr>
              <a:t>Evaluation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45367" y="5120640"/>
            <a:ext cx="264261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C3AED"/>
                </a:solidFill>
                <a:latin typeface="Montserrat Medium"/>
              </a:rPr>
              <a:t>Eval + Compliance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945367" y="5687568"/>
            <a:ext cx="2642616" cy="438912"/>
          </a:xfrm>
          <a:prstGeom prst="roundRect">
            <a:avLst>
              <a:gd name="adj" fmla="val 50000"/>
            </a:avLst>
          </a:prstGeom>
          <a:solidFill>
            <a:srgbClr val="F1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945367" y="5687568"/>
            <a:ext cx="2642616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D28D9"/>
                </a:solidFill>
                <a:latin typeface="Montserrat SemiBold"/>
              </a:rPr>
              <a:t>Score every bid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945367" y="6236208"/>
            <a:ext cx="2642616" cy="438912"/>
          </a:xfrm>
          <a:prstGeom prst="roundRect">
            <a:avLst>
              <a:gd name="adj" fmla="val 50000"/>
            </a:avLst>
          </a:prstGeom>
          <a:solidFill>
            <a:srgbClr val="F1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945367" y="6236208"/>
            <a:ext cx="2642616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D28D9"/>
                </a:solidFill>
                <a:latin typeface="Montserrat SemiBold"/>
              </a:rPr>
              <a:t>Compliance check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945367" y="6784848"/>
            <a:ext cx="2642616" cy="438912"/>
          </a:xfrm>
          <a:prstGeom prst="roundRect">
            <a:avLst>
              <a:gd name="adj" fmla="val 50000"/>
            </a:avLst>
          </a:prstGeom>
          <a:solidFill>
            <a:srgbClr val="F1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945367" y="6784848"/>
            <a:ext cx="2642616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D28D9"/>
                </a:solidFill>
                <a:latin typeface="Montserrat SemiBold"/>
              </a:rPr>
              <a:t>Rank &amp; recommend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945367" y="7516368"/>
            <a:ext cx="2642616" cy="420624"/>
          </a:xfrm>
          <a:prstGeom prst="roundRect">
            <a:avLst>
              <a:gd name="adj" fmla="val 50000"/>
            </a:avLst>
          </a:prstGeom>
          <a:solidFill>
            <a:srgbClr val="E3F6EB"/>
          </a:solidFill>
          <a:ln w="9525">
            <a:solidFill>
              <a:srgbClr val="146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945367" y="7516368"/>
            <a:ext cx="2642616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80">
                <a:solidFill>
                  <a:srgbClr val="146B3F"/>
                </a:solidFill>
                <a:latin typeface="Consolas"/>
              </a:rPr>
              <a:t>✓  LIVE · UNILEVER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3999464" y="3291840"/>
            <a:ext cx="3154680" cy="4892040"/>
          </a:xfrm>
          <a:prstGeom prst="roundRect">
            <a:avLst>
              <a:gd name="adj" fmla="val 2898"/>
            </a:avLst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3999464" y="3291840"/>
            <a:ext cx="3154680" cy="640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14255496" y="3602736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1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icon_award_purp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401800" y="3749039"/>
            <a:ext cx="365760" cy="36576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15078455" y="3602736"/>
            <a:ext cx="1819656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7C3AED"/>
                </a:solidFill>
                <a:latin typeface="Consolas"/>
              </a:rPr>
              <a:t>AGENT 05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4255496" y="4480560"/>
            <a:ext cx="2642616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B1F26"/>
                </a:solidFill>
                <a:latin typeface="Montserrat Medium"/>
              </a:rPr>
              <a:t>Award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4255496" y="5120640"/>
            <a:ext cx="264261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C3AED"/>
                </a:solidFill>
                <a:latin typeface="Montserrat Medium"/>
              </a:rPr>
              <a:t>Scenario + Writeback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4255496" y="5687568"/>
            <a:ext cx="2642616" cy="438912"/>
          </a:xfrm>
          <a:prstGeom prst="roundRect">
            <a:avLst>
              <a:gd name="adj" fmla="val 50000"/>
            </a:avLst>
          </a:prstGeom>
          <a:solidFill>
            <a:srgbClr val="F1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4255496" y="5687568"/>
            <a:ext cx="2642616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D28D9"/>
                </a:solidFill>
                <a:latin typeface="Montserrat SemiBold"/>
              </a:rPr>
              <a:t>Build scenarios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4255496" y="6236208"/>
            <a:ext cx="2642616" cy="438912"/>
          </a:xfrm>
          <a:prstGeom prst="roundRect">
            <a:avLst>
              <a:gd name="adj" fmla="val 50000"/>
            </a:avLst>
          </a:prstGeom>
          <a:solidFill>
            <a:srgbClr val="F1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4255496" y="6236208"/>
            <a:ext cx="2642616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D28D9"/>
                </a:solidFill>
                <a:latin typeface="Montserrat SemiBold"/>
              </a:rPr>
              <a:t>Optimal allocation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4255496" y="6784848"/>
            <a:ext cx="2642616" cy="438912"/>
          </a:xfrm>
          <a:prstGeom prst="roundRect">
            <a:avLst>
              <a:gd name="adj" fmla="val 50000"/>
            </a:avLst>
          </a:prstGeom>
          <a:solidFill>
            <a:srgbClr val="F1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4255496" y="6784848"/>
            <a:ext cx="2642616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D28D9"/>
                </a:solidFill>
                <a:latin typeface="Montserrat SemiBold"/>
              </a:rPr>
              <a:t>Write back to ERP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4255496" y="7516368"/>
            <a:ext cx="2642616" cy="420624"/>
          </a:xfrm>
          <a:prstGeom prst="roundRect">
            <a:avLst>
              <a:gd name="adj" fmla="val 50000"/>
            </a:avLst>
          </a:prstGeom>
          <a:solidFill>
            <a:srgbClr val="E3F6EB"/>
          </a:solidFill>
          <a:ln w="9525">
            <a:solidFill>
              <a:srgbClr val="146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4255496" y="7516368"/>
            <a:ext cx="2642616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80">
                <a:solidFill>
                  <a:srgbClr val="146B3F"/>
                </a:solidFill>
                <a:latin typeface="Consolas"/>
              </a:rPr>
              <a:t>✓  LIVE · UNILEVER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58952" y="8503920"/>
            <a:ext cx="16770096" cy="96012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51560" y="8503920"/>
            <a:ext cx="283464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 spc="120">
                <a:solidFill>
                  <a:srgbClr val="7C3AED"/>
                </a:solidFill>
                <a:latin typeface="Consolas"/>
              </a:rPr>
              <a:t>GUARDRAILS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A707B"/>
                </a:solidFill>
                <a:latin typeface="Montserrat"/>
              </a:rPr>
              <a:t>Every step · per category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114800" y="8796528"/>
            <a:ext cx="2072640" cy="384048"/>
          </a:xfrm>
          <a:prstGeom prst="roundRect">
            <a:avLst>
              <a:gd name="adj" fmla="val 50000"/>
            </a:avLst>
          </a:prstGeom>
          <a:solidFill>
            <a:srgbClr val="FAFBFC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114800" y="8796528"/>
            <a:ext cx="20726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1F26"/>
                </a:solidFill>
                <a:latin typeface="Montserrat SemiBold"/>
              </a:rPr>
              <a:t>Hard limits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352032" y="8796528"/>
            <a:ext cx="2072640" cy="384048"/>
          </a:xfrm>
          <a:prstGeom prst="roundRect">
            <a:avLst>
              <a:gd name="adj" fmla="val 50000"/>
            </a:avLst>
          </a:prstGeom>
          <a:solidFill>
            <a:srgbClr val="FAFBFC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52032" y="8796528"/>
            <a:ext cx="20726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1F26"/>
                </a:solidFill>
                <a:latin typeface="Montserrat SemiBold"/>
              </a:rPr>
              <a:t>&gt;5% deviation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589264" y="8796528"/>
            <a:ext cx="2072640" cy="384048"/>
          </a:xfrm>
          <a:prstGeom prst="roundRect">
            <a:avLst>
              <a:gd name="adj" fmla="val 50000"/>
            </a:avLst>
          </a:prstGeom>
          <a:solidFill>
            <a:srgbClr val="FAFBFC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589264" y="8796528"/>
            <a:ext cx="20726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1F26"/>
                </a:solidFill>
                <a:latin typeface="Montserrat SemiBold"/>
              </a:rPr>
              <a:t>SoD matrix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0826496" y="8796528"/>
            <a:ext cx="2072640" cy="384048"/>
          </a:xfrm>
          <a:prstGeom prst="roundRect">
            <a:avLst>
              <a:gd name="adj" fmla="val 50000"/>
            </a:avLst>
          </a:prstGeom>
          <a:solidFill>
            <a:srgbClr val="FAFBFC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826496" y="8796528"/>
            <a:ext cx="20726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1F26"/>
                </a:solidFill>
                <a:latin typeface="Montserrat SemiBold"/>
              </a:rPr>
              <a:t>Immutable audit log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3063728" y="8796528"/>
            <a:ext cx="2072640" cy="384048"/>
          </a:xfrm>
          <a:prstGeom prst="roundRect">
            <a:avLst>
              <a:gd name="adj" fmla="val 50000"/>
            </a:avLst>
          </a:prstGeom>
          <a:solidFill>
            <a:srgbClr val="FAFBFC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3063728" y="8796528"/>
            <a:ext cx="20726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1F26"/>
                </a:solidFill>
                <a:latin typeface="Montserrat SemiBold"/>
              </a:rPr>
              <a:t>Auto-blacklist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5300960" y="8796528"/>
            <a:ext cx="2072640" cy="384048"/>
          </a:xfrm>
          <a:prstGeom prst="roundRect">
            <a:avLst>
              <a:gd name="adj" fmla="val 50000"/>
            </a:avLst>
          </a:prstGeom>
          <a:solidFill>
            <a:srgbClr val="FAFBFC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5300960" y="8796528"/>
            <a:ext cx="20726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1F26"/>
                </a:solidFill>
                <a:latin typeface="Montserrat SemiBold"/>
              </a:rPr>
              <a:t>Human-in-the-loop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9902952"/>
            <a:ext cx="182880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Connector 107"/>
          <p:cNvCxnSpPr/>
          <p:nvPr/>
        </p:nvCxnSpPr>
        <p:spPr>
          <a:xfrm>
            <a:off x="0" y="9902952"/>
            <a:ext cx="18288000" cy="0"/>
          </a:xfrm>
          <a:prstGeom prst="bentConnector3">
            <a:avLst/>
          </a:prstGeom>
          <a:ln w="9525">
            <a:solidFill>
              <a:srgbClr val="E2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758952" y="9902952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80">
                <a:solidFill>
                  <a:srgbClr val="6A707B"/>
                </a:solidFill>
                <a:latin typeface="Consolas"/>
              </a:rPr>
              <a:t>AERCHAIN × INFOSYS · AUTONOMOUS SOURCING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556248" y="9902952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80">
                <a:solidFill>
                  <a:srgbClr val="6A707B"/>
                </a:solidFill>
                <a:latin typeface="Consolas"/>
              </a:rPr>
              <a:t>CONFIDENTIAL · PREPARED FOR UNILEVER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60120"/>
            <a:ext cx="18288000" cy="0"/>
          </a:xfrm>
          <a:prstGeom prst="bentConnector3">
            <a:avLst/>
          </a:prstGeom>
          <a:ln w="9525">
            <a:solidFill>
              <a:srgbClr val="E2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erchain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56032"/>
            <a:ext cx="2660904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74720" y="256032"/>
            <a:ext cx="50292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A707B"/>
                </a:solidFill>
                <a:latin typeface="Consolas"/>
              </a:rPr>
              <a:t>×</a:t>
            </a:r>
          </a:p>
        </p:txBody>
      </p:sp>
      <p:pic>
        <p:nvPicPr>
          <p:cNvPr id="7" name="Picture 6" descr="infosys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256032"/>
            <a:ext cx="1188720" cy="466344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5468112" y="274320"/>
            <a:ext cx="0" cy="411480"/>
          </a:xfrm>
          <a:prstGeom prst="bentConnector3">
            <a:avLst/>
          </a:prstGeom>
          <a:ln w="9525">
            <a:solidFill>
              <a:srgbClr val="E2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87568" y="0"/>
            <a:ext cx="822960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6A707B"/>
                </a:solidFill>
                <a:latin typeface="Consolas"/>
              </a:rPr>
              <a:t>THE BUSINESS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0" y="0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1F26"/>
                </a:solidFill>
                <a:latin typeface="Consolas"/>
              </a:rPr>
              <a:t>04</a:t>
            </a:r>
            <a:r>
              <a:rPr sz="1300" b="1" i="0">
                <a:solidFill>
                  <a:srgbClr val="6A707B"/>
                </a:solidFill>
                <a:latin typeface="Consolas"/>
              </a:rPr>
              <a:t> / 04</a:t>
            </a:r>
          </a:p>
        </p:txBody>
      </p:sp>
      <p:pic>
        <p:nvPicPr>
          <p:cNvPr id="11" name="Picture 10" descr="unilever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1808" y="155448"/>
            <a:ext cx="594360" cy="65836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58952" y="1216152"/>
            <a:ext cx="420624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21615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1216152"/>
            <a:ext cx="1097280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7C3AED"/>
                </a:solidFill>
                <a:latin typeface="Consolas"/>
              </a:rPr>
              <a:t>VALUE &amp; RETURN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1719072"/>
            <a:ext cx="16770096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1B1F26"/>
                </a:solidFill>
                <a:latin typeface="Montserrat"/>
              </a:rPr>
              <a:t>A </a:t>
            </a:r>
            <a:r>
              <a:rPr sz="4000" b="0" i="0">
                <a:solidFill>
                  <a:srgbClr val="7C3AED"/>
                </a:solidFill>
                <a:latin typeface="Montserrat"/>
              </a:rPr>
              <a:t>1 : 58 return</a:t>
            </a:r>
            <a:r>
              <a:rPr sz="4000" b="0" i="0">
                <a:solidFill>
                  <a:srgbClr val="1B1F26"/>
                </a:solidFill>
                <a:latin typeface="Montserrat"/>
              </a:rPr>
              <a:t> — and it is already banked.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2450592"/>
            <a:ext cx="160934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84E59"/>
                </a:solidFill>
                <a:latin typeface="Montserrat"/>
              </a:rPr>
              <a:t>The numbers behind the deployment: addressable spend, committed savings, run cost, and the rollout path from here.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8952" y="3054096"/>
            <a:ext cx="16770096" cy="0"/>
          </a:xfrm>
          <a:prstGeom prst="bentConnector3">
            <a:avLst/>
          </a:prstGeom>
          <a:ln w="9525">
            <a:solidFill>
              <a:srgbClr val="E2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8952" y="3291840"/>
            <a:ext cx="3931920" cy="1975104"/>
          </a:xfrm>
          <a:prstGeom prst="roundRect">
            <a:avLst>
              <a:gd name="adj" fmla="val 4629"/>
            </a:avLst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952" y="3291840"/>
            <a:ext cx="64008" cy="19751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56616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>
                <a:solidFill>
                  <a:srgbClr val="7C3AED"/>
                </a:solidFill>
                <a:latin typeface="Montserrat Medium"/>
              </a:rPr>
              <a:t>$54M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3891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1F26"/>
                </a:solidFill>
                <a:latin typeface="Montserrat SemiBold"/>
              </a:rPr>
              <a:t>Addressable spend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736592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707B"/>
                </a:solidFill>
                <a:latin typeface="Montserrat"/>
              </a:rPr>
              <a:t>Across 37 active sourcing projects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56632" y="3291840"/>
            <a:ext cx="3931920" cy="1975104"/>
          </a:xfrm>
          <a:prstGeom prst="roundRect">
            <a:avLst>
              <a:gd name="adj" fmla="val 4629"/>
            </a:avLst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56632" y="3291840"/>
            <a:ext cx="64008" cy="19751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356616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>
                <a:solidFill>
                  <a:srgbClr val="7C3AED"/>
                </a:solidFill>
                <a:latin typeface="Montserrat Medium"/>
              </a:rPr>
              <a:t>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43891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1F26"/>
                </a:solidFill>
                <a:latin typeface="Montserrat SemiBold"/>
              </a:rPr>
              <a:t>Average yield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4736592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707B"/>
                </a:solidFill>
                <a:latin typeface="Montserrat"/>
              </a:rPr>
              <a:t>Realised savings rate per project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" y="5394960"/>
            <a:ext cx="3931920" cy="1975104"/>
          </a:xfrm>
          <a:prstGeom prst="roundRect">
            <a:avLst>
              <a:gd name="adj" fmla="val 4629"/>
            </a:avLst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8952" y="5394960"/>
            <a:ext cx="64008" cy="19751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66928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>
                <a:solidFill>
                  <a:srgbClr val="7C3AED"/>
                </a:solidFill>
                <a:latin typeface="Montserrat Medium"/>
              </a:rPr>
              <a:t>$5M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64922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1F26"/>
                </a:solidFill>
                <a:latin typeface="Montserrat SemiBold"/>
              </a:rPr>
              <a:t>Savings unlocked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6839712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707B"/>
                </a:solidFill>
                <a:latin typeface="Montserrat"/>
              </a:rPr>
              <a:t>Across projects at various stages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56632" y="5394960"/>
            <a:ext cx="3931920" cy="1975104"/>
          </a:xfrm>
          <a:prstGeom prst="roundRect">
            <a:avLst>
              <a:gd name="adj" fmla="val 4629"/>
            </a:avLst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56632" y="5394960"/>
            <a:ext cx="64008" cy="19751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49240" y="566928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>
                <a:solidFill>
                  <a:srgbClr val="7C3AED"/>
                </a:solidFill>
                <a:latin typeface="Montserrat Medium"/>
              </a:rPr>
              <a:t>$15.5M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64922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1F26"/>
                </a:solidFill>
                <a:latin typeface="Montserrat SemiBold"/>
              </a:rPr>
              <a:t>Committed savings ·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6839712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707B"/>
                </a:solidFill>
                <a:latin typeface="Montserrat"/>
              </a:rPr>
              <a:t>Target the platform is underwriting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8952" y="7498080"/>
            <a:ext cx="3931920" cy="1975104"/>
          </a:xfrm>
          <a:prstGeom prst="roundRect">
            <a:avLst>
              <a:gd name="adj" fmla="val 4629"/>
            </a:avLst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8952" y="7498080"/>
            <a:ext cx="64008" cy="19751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" y="777240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>
                <a:solidFill>
                  <a:srgbClr val="7C3AED"/>
                </a:solidFill>
                <a:latin typeface="Montserrat Medium"/>
              </a:rPr>
              <a:t>$265K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85953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1F26"/>
                </a:solidFill>
                <a:latin typeface="Montserrat SemiBold"/>
              </a:rPr>
              <a:t>Annual platform cost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8942832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707B"/>
                </a:solidFill>
                <a:latin typeface="Montserrat"/>
              </a:rPr>
              <a:t>Fully-loaded run cost for 2026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56632" y="7498080"/>
            <a:ext cx="3931920" cy="1975104"/>
          </a:xfrm>
          <a:prstGeom prst="roundRect">
            <a:avLst>
              <a:gd name="adj" fmla="val 4629"/>
            </a:avLst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56632" y="7498080"/>
            <a:ext cx="64008" cy="19751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49240" y="777240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 i="0">
                <a:solidFill>
                  <a:srgbClr val="7C3AED"/>
                </a:solidFill>
                <a:latin typeface="Montserrat Medium"/>
              </a:rPr>
              <a:t>1 : 58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49240" y="85953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1F26"/>
                </a:solidFill>
                <a:latin typeface="Montserrat SemiBold"/>
              </a:rPr>
              <a:t>Return on investment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49240" y="8942832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707B"/>
                </a:solidFill>
                <a:latin typeface="Montserrat"/>
              </a:rPr>
              <a:t>Every $1 returns $58 in 2026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26880" y="3291840"/>
            <a:ext cx="8202168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9525">
            <a:solidFill>
              <a:srgbClr val="E2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38359" y="3602736"/>
            <a:ext cx="737920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7C3AED"/>
                </a:solidFill>
                <a:latin typeface="Consolas"/>
              </a:rPr>
              <a:t>SAVINGS MOMENTUM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012680" y="4869917"/>
            <a:ext cx="1417320" cy="707922"/>
          </a:xfrm>
          <a:prstGeom prst="roundRect">
            <a:avLst>
              <a:gd name="adj" fmla="val 5166"/>
            </a:avLst>
          </a:prstGeom>
          <a:gradFill rotWithShape="1">
            <a:gsLst>
              <a:gs pos="0">
                <a:srgbClr val="C4A8F7"/>
              </a:gs>
              <a:gs pos="100000">
                <a:srgbClr val="A78BF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4412717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7C3AED"/>
                </a:solidFill>
                <a:latin typeface="Montserrat SemiBold"/>
              </a:rPr>
              <a:t>$8M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5632704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1F26"/>
                </a:solidFill>
                <a:latin typeface="Montserrat SemiBold"/>
              </a:rPr>
              <a:t>2025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92640" y="5888736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707B"/>
                </a:solidFill>
                <a:latin typeface="Montserrat"/>
              </a:rPr>
              <a:t>delivered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344400" y="4206240"/>
            <a:ext cx="1417320" cy="1371600"/>
          </a:xfrm>
          <a:prstGeom prst="roundRect">
            <a:avLst>
              <a:gd name="adj" fmla="val 2666"/>
            </a:avLst>
          </a:prstGeom>
          <a:gradFill rotWithShape="1">
            <a:gsLst>
              <a:gs pos="0">
                <a:srgbClr val="8B5CF6"/>
              </a:gs>
              <a:gs pos="100000">
                <a:srgbClr val="6D28D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024360" y="3749040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7C3AED"/>
                </a:solidFill>
                <a:latin typeface="Montserrat SemiBold"/>
              </a:rPr>
              <a:t>$15.5M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024360" y="5632704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1F26"/>
                </a:solidFill>
                <a:latin typeface="Montserrat SemiBold"/>
              </a:rPr>
              <a:t>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024360" y="5888736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707B"/>
                </a:solidFill>
                <a:latin typeface="Montserrat"/>
              </a:rPr>
              <a:t>committed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9829800" y="5577840"/>
            <a:ext cx="5029200" cy="0"/>
          </a:xfrm>
          <a:prstGeom prst="bentConnector3">
            <a:avLst/>
          </a:prstGeom>
          <a:ln w="9525">
            <a:solidFill>
              <a:srgbClr val="E2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14584680" y="4160520"/>
            <a:ext cx="2624328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7C3AED"/>
                </a:solidFill>
                <a:latin typeface="Montserrat Medium"/>
              </a:rPr>
              <a:t>≈2×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84E59"/>
                </a:solidFill>
                <a:latin typeface="Montserrat"/>
              </a:rPr>
              <a:t>growth in committed savings, 2025 → 2026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326880" y="6355080"/>
            <a:ext cx="8202168" cy="274320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2E1065"/>
              </a:gs>
              <a:gs pos="100000">
                <a:srgbClr val="4C1D95"/>
              </a:gs>
            </a:gsLst>
            <a:lin scaled="0" ang="186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38359" y="6665976"/>
            <a:ext cx="737920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D8C9F5"/>
                </a:solidFill>
                <a:latin typeface="Consolas"/>
              </a:rPr>
              <a:t>ROLLOUT ROADMAP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738359" y="7223760"/>
            <a:ext cx="2276856" cy="1554480"/>
          </a:xfrm>
          <a:prstGeom prst="roundRect">
            <a:avLst>
              <a:gd name="adj" fmla="val 4705"/>
            </a:avLst>
          </a:prstGeom>
          <a:solidFill>
            <a:srgbClr val="3B1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94391" y="7461504"/>
            <a:ext cx="176479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20">
                <a:solidFill>
                  <a:srgbClr val="D8C9F5"/>
                </a:solidFill>
                <a:latin typeface="Consolas"/>
              </a:rPr>
              <a:t>NOW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94391" y="7772400"/>
            <a:ext cx="176479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 Medium"/>
              </a:rPr>
              <a:t>Business Services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94391" y="8302752"/>
            <a:ext cx="176479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8C9F5"/>
                </a:solidFill>
                <a:latin typeface="Montserrat"/>
              </a:rPr>
              <a:t>Live in production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996928" y="7680960"/>
            <a:ext cx="310896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Montserrat"/>
              </a:rPr>
              <a:t>→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2289535" y="7223760"/>
            <a:ext cx="2276856" cy="1554480"/>
          </a:xfrm>
          <a:prstGeom prst="roundRect">
            <a:avLst>
              <a:gd name="adj" fmla="val 4705"/>
            </a:avLst>
          </a:prstGeom>
          <a:solidFill>
            <a:srgbClr val="3B1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545567" y="7461504"/>
            <a:ext cx="176479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20">
                <a:solidFill>
                  <a:srgbClr val="D8C9F5"/>
                </a:solidFill>
                <a:latin typeface="Consolas"/>
              </a:rPr>
              <a:t>NEXT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545567" y="7772400"/>
            <a:ext cx="176479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 Medium"/>
              </a:rPr>
              <a:t>Marketing &amp; IT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545567" y="8302752"/>
            <a:ext cx="176479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8C9F5"/>
                </a:solidFill>
                <a:latin typeface="Montserrat"/>
              </a:rPr>
              <a:t>Infosys-managed spend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4548103" y="7680960"/>
            <a:ext cx="310896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Montserrat"/>
              </a:rPr>
              <a:t>→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4840711" y="7223760"/>
            <a:ext cx="2276856" cy="1554480"/>
          </a:xfrm>
          <a:prstGeom prst="roundRect">
            <a:avLst>
              <a:gd name="adj" fmla="val 4705"/>
            </a:avLst>
          </a:prstGeom>
          <a:solidFill>
            <a:srgbClr val="3B1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5096743" y="7461504"/>
            <a:ext cx="176479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20">
                <a:solidFill>
                  <a:srgbClr val="D8C9F5"/>
                </a:solidFill>
                <a:latin typeface="Consolas"/>
              </a:rPr>
              <a:t>THEN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5096743" y="7772400"/>
            <a:ext cx="176479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 Medium"/>
              </a:rPr>
              <a:t>Enterprise-wide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5096743" y="8302752"/>
            <a:ext cx="176479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8C9F5"/>
                </a:solidFill>
                <a:latin typeface="Montserrat"/>
              </a:rPr>
              <a:t>Scaling beyond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9902952"/>
            <a:ext cx="182880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0" y="9902952"/>
            <a:ext cx="18288000" cy="0"/>
          </a:xfrm>
          <a:prstGeom prst="bentConnector3">
            <a:avLst/>
          </a:prstGeom>
          <a:ln w="9525">
            <a:solidFill>
              <a:srgbClr val="E2E4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758952" y="9902952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80">
                <a:solidFill>
                  <a:srgbClr val="6A707B"/>
                </a:solidFill>
                <a:latin typeface="Consolas"/>
              </a:rPr>
              <a:t>AERCHAIN × INFOSYS · AUTONOMOUS SOURCING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56248" y="9902952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80">
                <a:solidFill>
                  <a:srgbClr val="6A707B"/>
                </a:solidFill>
                <a:latin typeface="Consolas"/>
              </a:rPr>
              <a:t>CONFIDENTIAL · PREPARED FOR UNILEVER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