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84048"/>
            <a:ext cx="18288000" cy="9902952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2608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38328"/>
            <a:ext cx="7498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85232" y="0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EXECUTIVE BRIEFING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59" y="0"/>
            <a:ext cx="16459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01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0" name="Picture 9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0" y="256032"/>
            <a:ext cx="457200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810512"/>
            <a:ext cx="1463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4A8F7"/>
                </a:solidFill>
                <a:latin typeface="Consolas"/>
              </a:rPr>
              <a:t>──── </a:t>
            </a:r>
            <a:r>
              <a:rPr sz="1300" b="1" i="0" spc="120">
                <a:solidFill>
                  <a:srgbClr val="E0CFFA"/>
                </a:solidFill>
                <a:latin typeface="Consolas"/>
              </a:rPr>
              <a:t>AERCHAIN × INFOSYS · DEPLOYED AT UNILEVER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31720"/>
            <a:ext cx="16824960" cy="3840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0" b="0" i="0">
                <a:solidFill>
                  <a:srgbClr val="FFFFFF"/>
                </a:solidFill>
                <a:latin typeface="Montserrat Medium"/>
              </a:rPr>
              <a:t>Autonomous Agentic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0" b="0" i="0">
                <a:solidFill>
                  <a:srgbClr val="FFFFFF"/>
                </a:solidFill>
                <a:latin typeface="Montserrat Medium"/>
              </a:rPr>
              <a:t>Sourcing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800" b="0" i="0">
                <a:solidFill>
                  <a:srgbClr val="FFFFFF"/>
                </a:solidFill>
                <a:latin typeface="Montserrat Light"/>
              </a:rPr>
              <a:t>for Unilever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629400"/>
            <a:ext cx="150876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E0CFFA"/>
                </a:solidFill>
                <a:latin typeface="Montserrat Light"/>
              </a:rPr>
              <a:t>Infosys deploys Aerchain's autonomous-sourcing layer across Unilever — turning classical, manual sourcing into AI-driven, agent-run sourcing that is live and already delivering hard savings.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7863840"/>
            <a:ext cx="16459200" cy="0"/>
          </a:xfrm>
          <a:prstGeom prst="bentConnector3">
            <a:avLst/>
          </a:prstGeom>
          <a:ln w="9525">
            <a:solidFill>
              <a:srgbClr val="C4A8F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$5M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Savings unlocked across 37 sourcing projects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1 : 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Return on every dollar invested in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$8M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Hard savings already delivered in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0" y="8156448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0" y="894283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E0CFFA"/>
                </a:solidFill>
                <a:latin typeface="Montserrat"/>
              </a:rPr>
              <a:t>In production today for Business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· AGENTIC PROCUREMENT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 · VIA INFOSYS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2608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38328"/>
            <a:ext cx="749808" cy="29260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074920" y="338328"/>
            <a:ext cx="0" cy="283464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285232" y="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AERCHAIN-AUTONOMOUS SOURCING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59" y="0"/>
            <a:ext cx="16459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02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0" y="256032"/>
            <a:ext cx="457200" cy="475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21615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UNILEVER × INFOSYS × AERCHAIN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719072"/>
            <a:ext cx="1677009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"/>
              </a:rPr>
              <a:t>From classical sourcing to </a:t>
            </a:r>
            <a:r>
              <a:rPr sz="4000" b="0" i="0">
                <a:solidFill>
                  <a:srgbClr val="7C3AED"/>
                </a:solidFill>
                <a:latin typeface="Montserrat"/>
              </a:rPr>
              <a:t>autonomous sourcing</a:t>
            </a:r>
            <a:r>
              <a:rPr sz="4000" b="0" i="0">
                <a:solidFill>
                  <a:srgbClr val="1B1F26"/>
                </a:solidFill>
                <a:latin typeface="Montserrat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450592"/>
            <a:ext cx="160934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What changed when Infosys deployed Aerchain's autonomous-sourcing layer at Unilever — and the value it is already delivering.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3054096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46120"/>
            <a:ext cx="3456432" cy="6355080"/>
          </a:xfrm>
          <a:prstGeom prst="roundRect">
            <a:avLst>
              <a:gd name="adj" fmla="val 2645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46120"/>
            <a:ext cx="3456432" cy="64008"/>
          </a:xfrm>
          <a:prstGeom prst="rect">
            <a:avLst/>
          </a:prstGeom>
          <a:solidFill>
            <a:srgbClr val="6A7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3" y="3557015"/>
            <a:ext cx="294436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6A707B"/>
                </a:solidFill>
                <a:latin typeface="Consolas"/>
              </a:rPr>
              <a:t>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3831335"/>
            <a:ext cx="29443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1F26"/>
                </a:solidFill>
                <a:latin typeface="Montserrat Medium"/>
              </a:rPr>
              <a:t>Classical sourcing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46634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645152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Classical, manual sourcing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4982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5431536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Heavy Excel dependency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623620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" y="6217920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Time &amp; resource constraints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3" y="7022592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7004304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Gaps in category expertise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7808976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" y="7790688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Limited negotiation leverage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3" y="859536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 SemiBold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0744" y="8577072"/>
            <a:ext cx="257860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Reliance on past data &amp; benchmarks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2" y="3246120"/>
            <a:ext cx="3584448" cy="6355080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3246120"/>
            <a:ext cx="3584448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26864" y="3557015"/>
            <a:ext cx="307238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NOW · WITH INFOSYS-AERCHAIN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6864" y="3831335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B1F26"/>
                </a:solidFill>
                <a:latin typeface="Montserrat Medium"/>
              </a:rPr>
              <a:t>Autonomous sourcing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6864" y="466344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0912" y="4645152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AI-driven, time-saving sourcing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544982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0912" y="5431536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Automated quotes, RFx &amp; questionnaires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6236208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0912" y="6217920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Intelligent supplier ranking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7022592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0912" y="7004304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Automated comms, live tracking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7808976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0912" y="7790688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AI-powered insights &amp; query support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8595360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7C3AED"/>
                </a:solidFill>
                <a:latin typeface="Montserrat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10912" y="8577072"/>
            <a:ext cx="268833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"/>
              </a:rPr>
              <a:t>Improved negotiation &amp; faster value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83879" y="3246120"/>
            <a:ext cx="3429000" cy="6355080"/>
          </a:xfrm>
          <a:prstGeom prst="roundRect">
            <a:avLst>
              <a:gd name="adj" fmla="val 3200"/>
            </a:avLst>
          </a:prstGeom>
          <a:gradFill rotWithShape="1">
            <a:gsLst>
              <a:gs pos="0">
                <a:srgbClr val="0F766E"/>
              </a:gs>
              <a:gs pos="100000">
                <a:srgbClr val="13B5A6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76488" y="3575303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200">
                <a:solidFill>
                  <a:srgbClr val="FFFFFF"/>
                </a:solidFill>
                <a:latin typeface="Consolas"/>
              </a:rPr>
              <a:t>OUTCOME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476488" y="4032504"/>
            <a:ext cx="2843784" cy="0"/>
          </a:xfrm>
          <a:prstGeom prst="bentConnector3">
            <a:avLst/>
          </a:prstGeom>
          <a:ln w="9525">
            <a:solidFill>
              <a:srgbClr val="3FBF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476488" y="4325112"/>
            <a:ext cx="284378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$5M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6488" y="5148072"/>
            <a:ext cx="284378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Montserrat"/>
              </a:rPr>
              <a:t>Savings on a $54M spend across 37 sourcing projects — 10% average yield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476488" y="5949696"/>
            <a:ext cx="2843784" cy="0"/>
          </a:xfrm>
          <a:prstGeom prst="bentConnector3">
            <a:avLst/>
          </a:prstGeom>
          <a:ln w="6350">
            <a:solidFill>
              <a:srgbClr val="3FBF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76488" y="6077712"/>
            <a:ext cx="284378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Live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76488" y="6900672"/>
            <a:ext cx="284378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Montserrat"/>
              </a:rPr>
              <a:t>In production today for Unilever Business Services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476488" y="7702296"/>
            <a:ext cx="2843784" cy="0"/>
          </a:xfrm>
          <a:prstGeom prst="bentConnector3">
            <a:avLst/>
          </a:prstGeom>
          <a:ln w="6350">
            <a:solidFill>
              <a:srgbClr val="3FBFB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476488" y="7830311"/>
            <a:ext cx="284378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"/>
              </a:rPr>
              <a:t>Scaling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6488" y="8653272"/>
            <a:ext cx="2843784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CFBF1"/>
                </a:solidFill>
                <a:latin typeface="Montserrat"/>
              </a:rPr>
              <a:t>Across Marketing &amp; IT for Infosys-managed spend, and beyond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841480" y="3246120"/>
            <a:ext cx="5687568" cy="6355080"/>
          </a:xfrm>
          <a:prstGeom prst="roundRect">
            <a:avLst>
              <a:gd name="adj" fmla="val 1929"/>
            </a:avLst>
          </a:prstGeom>
          <a:gradFill rotWithShape="1">
            <a:gsLst>
              <a:gs pos="0">
                <a:srgbClr val="6D28D9"/>
              </a:gs>
              <a:gs pos="100000">
                <a:srgbClr val="9333EA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207240" y="3575303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200">
                <a:solidFill>
                  <a:srgbClr val="FFFFFF"/>
                </a:solidFill>
                <a:latin typeface="Consolas"/>
              </a:rPr>
              <a:t>IMPACT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2207240" y="4032504"/>
            <a:ext cx="4956048" cy="0"/>
          </a:xfrm>
          <a:prstGeom prst="bentConnector3">
            <a:avLst/>
          </a:prstGeom>
          <a:ln w="9525">
            <a:solidFill>
              <a:srgbClr val="B98D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2207240" y="429767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1 : 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207240" y="513892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Return on investment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207240" y="5504688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On $15.5M committed savings, 2026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2207240" y="6739127"/>
            <a:ext cx="2340864" cy="0"/>
          </a:xfrm>
          <a:prstGeom prst="bentConnector3">
            <a:avLst/>
          </a:prstGeom>
          <a:ln w="6350">
            <a:solidFill>
              <a:srgbClr val="B98D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2424" y="429767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$265K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822424" y="513892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Annual platform cost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822424" y="5504688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Fully-loaded run cost for 2026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4822424" y="6739127"/>
            <a:ext cx="2340864" cy="0"/>
          </a:xfrm>
          <a:prstGeom prst="bentConnector3">
            <a:avLst/>
          </a:prstGeom>
          <a:ln w="6350">
            <a:solidFill>
              <a:srgbClr val="B98D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2207240" y="690371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$8M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207240" y="774496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Hard savings in 2025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207240" y="8110727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Delivered, banked, audited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822424" y="6903719"/>
            <a:ext cx="2340864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Montserrat Medium"/>
              </a:rPr>
              <a:t>~3%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22424" y="7744967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Montserrat SemiBold"/>
              </a:rPr>
              <a:t>FTE efficiency gain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822424" y="8110727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CE3FF"/>
                </a:solidFill>
                <a:latin typeface="Montserrat"/>
              </a:rPr>
              <a:t>Year on year, plus negotiation uplift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2608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38328"/>
            <a:ext cx="749808" cy="29260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074920" y="338328"/>
            <a:ext cx="0" cy="283464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285232" y="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HOW IT WORKS · THE AGENTIC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59" y="0"/>
            <a:ext cx="16459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03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0" y="256032"/>
            <a:ext cx="457200" cy="475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21615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CAPABILITY 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719072"/>
            <a:ext cx="1677009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"/>
              </a:rPr>
              <a:t>Five </a:t>
            </a:r>
            <a:r>
              <a:rPr sz="4000" b="0" i="0">
                <a:solidFill>
                  <a:srgbClr val="7C3AED"/>
                </a:solidFill>
                <a:latin typeface="Montserrat"/>
              </a:rPr>
              <a:t>Aerchain agents</a:t>
            </a:r>
            <a:r>
              <a:rPr sz="4000" b="0" i="0">
                <a:solidFill>
                  <a:srgbClr val="1B1F26"/>
                </a:solidFill>
                <a:latin typeface="Montserrat"/>
              </a:rPr>
              <a:t>, running the sourcing cycle.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450592"/>
            <a:ext cx="160934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Each agent runs autonomously inside its station of the procure-to-pay flow, with human-in-the-loop guardrails per category — all live in production.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3054096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46120"/>
            <a:ext cx="3154680" cy="58064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4612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8407" y="3538727"/>
            <a:ext cx="603504" cy="603504"/>
          </a:xfrm>
          <a:prstGeom prst="roundRect">
            <a:avLst>
              <a:gd name="adj" fmla="val 18181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_intake_pur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3657600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91640" y="3557015"/>
            <a:ext cx="202082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7" y="4297679"/>
            <a:ext cx="27157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1F26"/>
                </a:solidFill>
                <a:latin typeface="Montserrat Medium"/>
              </a:rPr>
              <a:t>Intake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7" y="4818888"/>
            <a:ext cx="271576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"/>
              </a:rPr>
              <a:t>Auto-ingests requests, cleans maverick descriptions, classifies &amp; enriches spend.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8407" y="6035040"/>
            <a:ext cx="2715769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78407" y="61904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7" y="6446520"/>
            <a:ext cx="27157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3AED"/>
                </a:solidFill>
                <a:latin typeface="Montserrat Medium"/>
              </a:rPr>
              <a:t>Intake &amp; Enrichment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7" y="7104888"/>
            <a:ext cx="271576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84E59"/>
                </a:solidFill>
                <a:latin typeface="Montserrat"/>
              </a:rPr>
              <a:t>Parallel sub-agents auto-tag GL, cost centre and taxonomy, and raise clarifying questions before the cycle starts.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7" y="8531352"/>
            <a:ext cx="2715768" cy="329184"/>
          </a:xfrm>
          <a:prstGeom prst="roundRect">
            <a:avLst>
              <a:gd name="adj" fmla="val 13888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8531352"/>
            <a:ext cx="27157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69080" y="3246120"/>
            <a:ext cx="3154680" cy="58064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9080" y="324612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88536" y="3538727"/>
            <a:ext cx="603504" cy="603504"/>
          </a:xfrm>
          <a:prstGeom prst="roundRect">
            <a:avLst>
              <a:gd name="adj" fmla="val 18181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n_sourcing_purp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3657600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001768" y="3557015"/>
            <a:ext cx="202082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8536" y="4297679"/>
            <a:ext cx="27157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1F26"/>
                </a:solidFill>
                <a:latin typeface="Montserrat Medium"/>
              </a:rPr>
              <a:t>Sourcing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88536" y="4818888"/>
            <a:ext cx="271576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"/>
              </a:rPr>
              <a:t>Scouts the market and runs outreach across the existing supplier base.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288536" y="6035040"/>
            <a:ext cx="2715768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288536" y="61904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88536" y="6446520"/>
            <a:ext cx="27157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3AED"/>
                </a:solidFill>
                <a:latin typeface="Montserrat Medium"/>
              </a:rPr>
              <a:t>Multi-Agent RFQ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8536" y="7104888"/>
            <a:ext cx="271576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84E59"/>
                </a:solidFill>
                <a:latin typeface="Montserrat"/>
              </a:rPr>
              <a:t>Auto-builds SOW, scope and T&amp;Cs, then runs outreach, follow-up, query clarification and bid extraction autonomously.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88536" y="8531352"/>
            <a:ext cx="2715768" cy="329184"/>
          </a:xfrm>
          <a:prstGeom prst="roundRect">
            <a:avLst>
              <a:gd name="adj" fmla="val 13888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88536" y="8531352"/>
            <a:ext cx="27157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79208" y="3246120"/>
            <a:ext cx="3154680" cy="58064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79208" y="324612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598664" y="3538727"/>
            <a:ext cx="603504" cy="603504"/>
          </a:xfrm>
          <a:prstGeom prst="roundRect">
            <a:avLst>
              <a:gd name="adj" fmla="val 18181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con_negotiation_pur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7536" y="3657600"/>
            <a:ext cx="365760" cy="3657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311896" y="3557015"/>
            <a:ext cx="202082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98664" y="4297679"/>
            <a:ext cx="27157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1F26"/>
                </a:solidFill>
                <a:latin typeface="Montserrat Medium"/>
              </a:rPr>
              <a:t>Negotiation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98664" y="4818888"/>
            <a:ext cx="271576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"/>
              </a:rPr>
              <a:t>Multi-parameter, asynchronous negotiation across price, terms &amp; lead time.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598664" y="6035040"/>
            <a:ext cx="2715768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598664" y="61904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98664" y="6446520"/>
            <a:ext cx="27157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3AED"/>
                </a:solidFill>
                <a:latin typeface="Montserrat Medium"/>
              </a:rPr>
              <a:t>AI Negotiation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98664" y="7104888"/>
            <a:ext cx="271576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84E59"/>
                </a:solidFill>
                <a:latin typeface="Montserrat"/>
              </a:rPr>
              <a:t>Multi-round, configurable-autonomy negotiations with price loading and total-cost normalisation across regions.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598664" y="8531352"/>
            <a:ext cx="2715768" cy="329184"/>
          </a:xfrm>
          <a:prstGeom prst="roundRect">
            <a:avLst>
              <a:gd name="adj" fmla="val 13888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98664" y="8531352"/>
            <a:ext cx="27157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689336" y="3246120"/>
            <a:ext cx="3154680" cy="58064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89336" y="324612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908792" y="3538727"/>
            <a:ext cx="603504" cy="603504"/>
          </a:xfrm>
          <a:prstGeom prst="roundRect">
            <a:avLst>
              <a:gd name="adj" fmla="val 18181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con_evaluation_purp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7663" y="3657600"/>
            <a:ext cx="365760" cy="36576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622024" y="3557015"/>
            <a:ext cx="202082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8792" y="4297679"/>
            <a:ext cx="27157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1F26"/>
                </a:solidFill>
                <a:latin typeface="Montserrat Medium"/>
              </a:rPr>
              <a:t>Evaluation Agent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08792" y="4818888"/>
            <a:ext cx="271576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"/>
              </a:rPr>
              <a:t>Scores every bid; runs compliance and risk checks silently in the background.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0908792" y="6035040"/>
            <a:ext cx="2715768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908792" y="61904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08792" y="6446520"/>
            <a:ext cx="27157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3AED"/>
                </a:solidFill>
                <a:latin typeface="Montserrat Medium"/>
              </a:rPr>
              <a:t>Eval + Compliance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08792" y="7104888"/>
            <a:ext cx="271576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84E59"/>
                </a:solidFill>
                <a:latin typeface="Montserrat"/>
              </a:rPr>
              <a:t>Configurable scoring per category. Compliance runs as a subroutine — single decision surface, single audit entry.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908792" y="8531352"/>
            <a:ext cx="2715768" cy="329184"/>
          </a:xfrm>
          <a:prstGeom prst="roundRect">
            <a:avLst>
              <a:gd name="adj" fmla="val 13888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08792" y="8531352"/>
            <a:ext cx="27157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999464" y="3246120"/>
            <a:ext cx="3154680" cy="580644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3999464" y="3246120"/>
            <a:ext cx="3154680" cy="6400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218920" y="3538727"/>
            <a:ext cx="603504" cy="603504"/>
          </a:xfrm>
          <a:prstGeom prst="roundRect">
            <a:avLst>
              <a:gd name="adj" fmla="val 18181"/>
            </a:avLst>
          </a:prstGeom>
          <a:solidFill>
            <a:srgbClr val="EC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con_award_purp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337792" y="3657600"/>
            <a:ext cx="365760" cy="36576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4932152" y="3557015"/>
            <a:ext cx="202082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7C3AED"/>
                </a:solidFill>
                <a:latin typeface="Consolas"/>
              </a:rPr>
              <a:t>AGENT 05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218920" y="4297679"/>
            <a:ext cx="271576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1F26"/>
                </a:solidFill>
                <a:latin typeface="Montserrat Medium"/>
              </a:rPr>
              <a:t>Award Agent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218920" y="4818888"/>
            <a:ext cx="271576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A707B"/>
                </a:solidFill>
                <a:latin typeface="Montserrat"/>
              </a:rPr>
              <a:t>Generates award scenarios and recommends the optimal allocation.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4218920" y="6035040"/>
            <a:ext cx="2715768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4218920" y="61904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6A707B"/>
                </a:solidFill>
                <a:latin typeface="Consolas"/>
              </a:rPr>
              <a:t>↓ AERCHAIN CAPABILITY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218920" y="6446520"/>
            <a:ext cx="271576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7C3AED"/>
                </a:solidFill>
                <a:latin typeface="Montserrat Medium"/>
              </a:rPr>
              <a:t>Scenario + Writeback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218920" y="7104888"/>
            <a:ext cx="271576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84E59"/>
                </a:solidFill>
                <a:latin typeface="Montserrat"/>
              </a:rPr>
              <a:t>Constraint-aware allocation factors landed cost, capacity and terms; the approved award writes back to the ERP of record.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218920" y="8531352"/>
            <a:ext cx="2715768" cy="329184"/>
          </a:xfrm>
          <a:prstGeom prst="roundRect">
            <a:avLst>
              <a:gd name="adj" fmla="val 13888"/>
            </a:avLst>
          </a:prstGeom>
          <a:solidFill>
            <a:srgbClr val="E3F6EB"/>
          </a:solidFill>
          <a:ln w="9525">
            <a:solidFill>
              <a:srgbClr val="14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4218920" y="8531352"/>
            <a:ext cx="2715768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6B3F"/>
                </a:solidFill>
                <a:latin typeface="Consolas"/>
              </a:rPr>
              <a:t>✓  LIVE · UNILEVER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8952" y="9281160"/>
            <a:ext cx="1677009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B1F26"/>
                </a:solidFill>
                <a:latin typeface="Montserrat SemiBold"/>
              </a:rPr>
              <a:t>Delivery posture.  </a:t>
            </a:r>
            <a:r>
              <a:rPr sz="1450" b="0" i="0">
                <a:solidFill>
                  <a:srgbClr val="484E59"/>
                </a:solidFill>
                <a:latin typeface="Montserrat"/>
              </a:rPr>
              <a:t>All five agents are in production today — Intake, Sourcing, Negotiation, Evaluation and Award — orchestrated end-to-end, with the ERP kept as the system of record.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0" y="960120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erchai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2608"/>
            <a:ext cx="2542032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56432" y="0"/>
            <a:ext cx="4572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6A707B"/>
                </a:solidFill>
                <a:latin typeface="Consolas"/>
              </a:rPr>
              <a:t>×</a:t>
            </a:r>
          </a:p>
        </p:txBody>
      </p:sp>
      <p:pic>
        <p:nvPicPr>
          <p:cNvPr id="7" name="Picture 6" descr="infosys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9" y="338328"/>
            <a:ext cx="749808" cy="29260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5074920" y="338328"/>
            <a:ext cx="0" cy="283464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285232" y="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6A707B"/>
                </a:solidFill>
                <a:latin typeface="Consolas"/>
              </a:rPr>
              <a:t>THE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59" y="0"/>
            <a:ext cx="164592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1F26"/>
                </a:solidFill>
                <a:latin typeface="Consolas"/>
              </a:rPr>
              <a:t>04</a:t>
            </a:r>
            <a:r>
              <a:rPr sz="1300" b="1" i="0">
                <a:solidFill>
                  <a:srgbClr val="6A707B"/>
                </a:solidFill>
                <a:latin typeface="Consolas"/>
              </a:rPr>
              <a:t> / 04</a:t>
            </a:r>
          </a:p>
        </p:txBody>
      </p:sp>
      <p:pic>
        <p:nvPicPr>
          <p:cNvPr id="11" name="Picture 10" descr="unilever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0" y="256032"/>
            <a:ext cx="457200" cy="475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21615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21615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VALUE &amp;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1719072"/>
            <a:ext cx="16770096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1B1F26"/>
                </a:solidFill>
                <a:latin typeface="Montserrat"/>
              </a:rPr>
              <a:t>A </a:t>
            </a:r>
            <a:r>
              <a:rPr sz="4000" b="0" i="0">
                <a:solidFill>
                  <a:srgbClr val="7C3AED"/>
                </a:solidFill>
                <a:latin typeface="Montserrat"/>
              </a:rPr>
              <a:t>1 : 58 return</a:t>
            </a:r>
            <a:r>
              <a:rPr sz="4000" b="0" i="0">
                <a:solidFill>
                  <a:srgbClr val="1B1F26"/>
                </a:solidFill>
                <a:latin typeface="Montserrat"/>
              </a:rPr>
              <a:t> — and it is already banked.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2450592"/>
            <a:ext cx="1609344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84E59"/>
                </a:solidFill>
                <a:latin typeface="Montserrat"/>
              </a:rPr>
              <a:t>The numbers behind the deployment: addressable spend, committed savings, run cost, and the rollout path from here.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58952" y="3054096"/>
            <a:ext cx="16770096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" y="329184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329184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56616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$54M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89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Addressable spend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73659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Across 37 active sourcing projects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6632" y="329184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9184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356616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89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Average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73659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Realised savings rate per project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" y="539496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" y="539496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566928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$5M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64922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Savings unlocked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683971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Across projects at various stages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6632" y="539496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56632" y="539496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566928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$15.5M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64922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Committed savings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683971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Target the platform is underwriting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" y="749808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" y="749808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777240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$265K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85953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Annual platform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894283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Fully-loaded run cost for 2026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56632" y="7498080"/>
            <a:ext cx="3931920" cy="1975104"/>
          </a:xfrm>
          <a:prstGeom prst="roundRect">
            <a:avLst>
              <a:gd name="adj" fmla="val 4629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56632" y="7498080"/>
            <a:ext cx="64008" cy="19751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777240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0" i="0">
                <a:solidFill>
                  <a:srgbClr val="7C3AED"/>
                </a:solidFill>
                <a:latin typeface="Montserrat Medium"/>
              </a:rPr>
              <a:t>1 : 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859536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1F26"/>
                </a:solidFill>
                <a:latin typeface="Montserrat SemiBold"/>
              </a:rPr>
              <a:t>Return on investment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8942832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A707B"/>
                </a:solidFill>
                <a:latin typeface="Montserrat"/>
              </a:rPr>
              <a:t>Every $1 returns $58 in 2026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3291840"/>
            <a:ext cx="8202168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9525">
            <a:solidFill>
              <a:srgbClr val="E2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38359" y="3602736"/>
            <a:ext cx="73792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7C3AED"/>
                </a:solidFill>
                <a:latin typeface="Consolas"/>
              </a:rPr>
              <a:t>SAVINGS MOMENTUM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12680" y="4869917"/>
            <a:ext cx="1417320" cy="707922"/>
          </a:xfrm>
          <a:prstGeom prst="roundRect">
            <a:avLst>
              <a:gd name="adj" fmla="val 5166"/>
            </a:avLst>
          </a:prstGeom>
          <a:gradFill rotWithShape="1">
            <a:gsLst>
              <a:gs pos="0">
                <a:srgbClr val="C4A8F7"/>
              </a:gs>
              <a:gs pos="100000">
                <a:srgbClr val="A78BFA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4412717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7C3AED"/>
                </a:solidFill>
                <a:latin typeface="Montserrat SemiBold"/>
              </a:rPr>
              <a:t>$8M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63270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1F26"/>
                </a:solidFill>
                <a:latin typeface="Montserrat SemiBold"/>
              </a:rPr>
              <a:t>2025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92640" y="5888736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delivered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4206240"/>
            <a:ext cx="1417320" cy="1371600"/>
          </a:xfrm>
          <a:prstGeom prst="roundRect">
            <a:avLst>
              <a:gd name="adj" fmla="val 2666"/>
            </a:avLst>
          </a:prstGeom>
          <a:gradFill rotWithShape="1">
            <a:gsLst>
              <a:gs pos="0">
                <a:srgbClr val="8B5CF6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024360" y="37490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7C3AED"/>
                </a:solidFill>
                <a:latin typeface="Montserrat SemiBold"/>
              </a:rPr>
              <a:t>$15.5M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024360" y="5632704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B1F26"/>
                </a:solidFill>
                <a:latin typeface="Montserrat SemiBold"/>
              </a:rPr>
              <a:t>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24360" y="5888736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A707B"/>
                </a:solidFill>
                <a:latin typeface="Montserrat"/>
              </a:rPr>
              <a:t>committed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829800" y="5577840"/>
            <a:ext cx="50292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4584680" y="4160520"/>
            <a:ext cx="262432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>
                <a:solidFill>
                  <a:srgbClr val="7C3AED"/>
                </a:solidFill>
                <a:latin typeface="Montserrat Medium"/>
              </a:rPr>
              <a:t>≈2×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84E59"/>
                </a:solidFill>
                <a:latin typeface="Montserrat"/>
              </a:rPr>
              <a:t>growth in committed savings, 2025 → 2026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326880" y="6355080"/>
            <a:ext cx="8202168" cy="27432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0F766E"/>
              </a:gs>
              <a:gs pos="100000">
                <a:srgbClr val="13B5A6"/>
              </a:gs>
            </a:gsLst>
            <a:lin scaled="0" ang="18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59" y="6665976"/>
            <a:ext cx="737920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CCFBF1"/>
                </a:solidFill>
                <a:latin typeface="Consolas"/>
              </a:rPr>
              <a:t>ROLLOUT ROADMAP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38359" y="7223760"/>
            <a:ext cx="2276856" cy="1554480"/>
          </a:xfrm>
          <a:prstGeom prst="roundRect">
            <a:avLst>
              <a:gd name="adj" fmla="val 4705"/>
            </a:avLst>
          </a:prstGeom>
          <a:solidFill>
            <a:srgbClr val="0B5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994391" y="7461504"/>
            <a:ext cx="176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CFBF1"/>
                </a:solidFill>
                <a:latin typeface="Consolas"/>
              </a:rPr>
              <a:t>NOW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94391" y="7772400"/>
            <a:ext cx="176479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Montserrat Medium"/>
              </a:rPr>
              <a:t>Business Services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94391" y="830275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CFBF1"/>
                </a:solidFill>
                <a:latin typeface="Montserrat"/>
              </a:rPr>
              <a:t>Live in production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996928" y="7680960"/>
            <a:ext cx="310896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</a:rPr>
              <a:t>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2289535" y="7223760"/>
            <a:ext cx="2276856" cy="1554480"/>
          </a:xfrm>
          <a:prstGeom prst="roundRect">
            <a:avLst>
              <a:gd name="adj" fmla="val 4705"/>
            </a:avLst>
          </a:prstGeom>
          <a:solidFill>
            <a:srgbClr val="0B5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545567" y="7461504"/>
            <a:ext cx="176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CFBF1"/>
                </a:solidFill>
                <a:latin typeface="Consolas"/>
              </a:rPr>
              <a:t>NEXT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45567" y="7772400"/>
            <a:ext cx="176479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Montserrat Medium"/>
              </a:rPr>
              <a:t>Marketing &amp; IT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545567" y="830275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CFBF1"/>
                </a:solidFill>
                <a:latin typeface="Montserrat"/>
              </a:rPr>
              <a:t>Infosys-managed spend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548103" y="7680960"/>
            <a:ext cx="310896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4840711" y="7223760"/>
            <a:ext cx="2276856" cy="1554480"/>
          </a:xfrm>
          <a:prstGeom prst="roundRect">
            <a:avLst>
              <a:gd name="adj" fmla="val 4705"/>
            </a:avLst>
          </a:prstGeom>
          <a:solidFill>
            <a:srgbClr val="0B5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096743" y="7461504"/>
            <a:ext cx="17647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CCFBF1"/>
                </a:solidFill>
                <a:latin typeface="Consolas"/>
              </a:rPr>
              <a:t>THEN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096743" y="7772400"/>
            <a:ext cx="1764792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Montserrat Medium"/>
              </a:rPr>
              <a:t>Enterprise-wide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096743" y="8302752"/>
            <a:ext cx="176479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CFBF1"/>
                </a:solidFill>
                <a:latin typeface="Montserrat"/>
              </a:rPr>
              <a:t>Scaling beyond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9902952"/>
            <a:ext cx="182880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0" y="9902952"/>
            <a:ext cx="18288000" cy="0"/>
          </a:xfrm>
          <a:prstGeom prst="bentConnector3">
            <a:avLst/>
          </a:prstGeom>
          <a:ln w="9525">
            <a:solidFill>
              <a:srgbClr val="E2E4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58952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AERCHAIN × INFOSYS · AUTONOMOUS SOURCING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56248" y="990295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80">
                <a:solidFill>
                  <a:srgbClr val="6A707B"/>
                </a:solidFill>
                <a:latin typeface="Consolas"/>
              </a:rPr>
              <a:t>CONFIDENTIAL · PREPARED FOR UNILEVER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