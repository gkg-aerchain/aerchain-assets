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8288000" cy="9902952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6032"/>
            <a:ext cx="2660904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256032"/>
            <a:ext cx="502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56032"/>
            <a:ext cx="1188720" cy="46634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68112" y="274320"/>
            <a:ext cx="0" cy="41148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87568" y="0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EXECUTIVE BRIEFING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0" y="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01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1808" y="155448"/>
            <a:ext cx="594360" cy="658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1810512"/>
            <a:ext cx="1463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A8F7"/>
                </a:solidFill>
                <a:latin typeface="Consolas"/>
              </a:rPr>
              <a:t>──── </a:t>
            </a:r>
            <a:r>
              <a:rPr sz="1300" b="1" i="0" spc="120">
                <a:solidFill>
                  <a:srgbClr val="E0CFFA"/>
                </a:solidFill>
                <a:latin typeface="Consolas"/>
              </a:rPr>
              <a:t>AERCHAIN × INFOSYS · DEPLOYED AT UNILEVER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331720"/>
            <a:ext cx="16824960" cy="3840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0" b="0" i="0">
                <a:solidFill>
                  <a:srgbClr val="FFFFFF"/>
                </a:solidFill>
                <a:latin typeface="Montserrat Medium"/>
              </a:rPr>
              <a:t>Autonomous Agentic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0" b="0" i="0">
                <a:solidFill>
                  <a:srgbClr val="FFFFFF"/>
                </a:solidFill>
                <a:latin typeface="Montserrat Medium"/>
              </a:rPr>
              <a:t>Sourcing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800" b="0" i="0">
                <a:solidFill>
                  <a:srgbClr val="FFFFFF"/>
                </a:solidFill>
                <a:latin typeface="Montserrat Light"/>
              </a:rPr>
              <a:t>for Unilever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629400"/>
            <a:ext cx="1508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0CFFA"/>
                </a:solidFill>
                <a:latin typeface="Montserrat Light"/>
              </a:rPr>
              <a:t>Infosys deploys Aerchain's autonomous-sourcing layer across Unilever — turning classical, manual sourcing into AI-driven, agent-run sourcing that is live and already delivering hard savings.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7863840"/>
            <a:ext cx="16459200" cy="0"/>
          </a:xfrm>
          <a:prstGeom prst="bentConnector3">
            <a:avLst/>
          </a:prstGeom>
          <a:ln w="9525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Savings unlocked across 37 sourcing projects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1 : 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Return on every dollar invested in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Hard savings already delivered in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In production today for Business 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· AGENTIC PROCUREMENT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 · VIA INFOSYS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6032"/>
            <a:ext cx="2660904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256032"/>
            <a:ext cx="502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56032"/>
            <a:ext cx="1188720" cy="46634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68112" y="274320"/>
            <a:ext cx="0" cy="41148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87568" y="0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AERCHAIN-AUTONOMOUS 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0" y="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02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1808" y="155448"/>
            <a:ext cx="594360" cy="6583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UNILEVER × INFOSYS × AERCHAIN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From classical sourcing to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autonomous sourcing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What changed when Infosys deployed Aerchain's autonomous-sourcing layer at Unilever — and the value it is already delivering.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46120"/>
            <a:ext cx="3456432" cy="6355080"/>
          </a:xfrm>
          <a:prstGeom prst="roundRect">
            <a:avLst>
              <a:gd name="adj" fmla="val 2645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46120"/>
            <a:ext cx="3456432" cy="64008"/>
          </a:xfrm>
          <a:prstGeom prst="rect">
            <a:avLst/>
          </a:prstGeom>
          <a:solidFill>
            <a:srgbClr val="6A7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3" y="3557015"/>
            <a:ext cx="294436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A707B"/>
                </a:solidFill>
                <a:latin typeface="Consolas"/>
              </a:rPr>
              <a:t>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3831335"/>
            <a:ext cx="29443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Classical sourcing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46634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645152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Classical, manual sourcing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4982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5431536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Heavy Excel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623620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" y="6217920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Time &amp; resource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7022592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700430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Gaps in category 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7808976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" y="7790688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Limited negotiation leverage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3" y="859536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0744" y="8577072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Reliance on past data &amp; benchmarks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2" y="3246120"/>
            <a:ext cx="3584448" cy="635508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3246120"/>
            <a:ext cx="3584448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3557015"/>
            <a:ext cx="307238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NOW · WITH INFOSYS-AERCHAIN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6864" y="3831335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Autonomous sourcing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46634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0912" y="4645152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AI-driven, time-saving sourcing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544982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5431536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Automated quotes, RFx &amp; questionnaires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623620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0912" y="6217920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Intelligent supplier ranking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7022592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0912" y="7004304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Automated comms, live tracking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7808976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0912" y="7790688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AI-powered insights &amp; query support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859536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10912" y="8577072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Improved negotiation &amp; faster value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246120"/>
            <a:ext cx="3429000" cy="6355080"/>
          </a:xfrm>
          <a:prstGeom prst="roundRect">
            <a:avLst>
              <a:gd name="adj" fmla="val 3200"/>
            </a:avLst>
          </a:prstGeom>
          <a:gradFill rotWithShape="1">
            <a:gsLst>
              <a:gs pos="0">
                <a:srgbClr val="2E1065"/>
              </a:gs>
              <a:gs pos="100000">
                <a:srgbClr val="4C1D95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76488" y="3575303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FFFFFF"/>
                </a:solidFill>
                <a:latin typeface="Consolas"/>
              </a:rPr>
              <a:t>OUTCOME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476488" y="4032504"/>
            <a:ext cx="2843784" cy="0"/>
          </a:xfrm>
          <a:prstGeom prst="bentConnector3">
            <a:avLst/>
          </a:prstGeom>
          <a:ln w="9525">
            <a:solidFill>
              <a:srgbClr val="7E5B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76488" y="4325112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6488" y="51480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8C9F5"/>
                </a:solidFill>
                <a:latin typeface="Montserrat"/>
              </a:rPr>
              <a:t>Savings on a $54M spend across 37 sourcing projects — 10% average yield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476488" y="5949696"/>
            <a:ext cx="2843784" cy="0"/>
          </a:xfrm>
          <a:prstGeom prst="bentConnector3">
            <a:avLst/>
          </a:prstGeom>
          <a:ln w="6350">
            <a:solidFill>
              <a:srgbClr val="7E5B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76488" y="6077712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76488" y="69006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8C9F5"/>
                </a:solidFill>
                <a:latin typeface="Montserrat"/>
              </a:rPr>
              <a:t>In production today for Unilever Business Services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476488" y="7702296"/>
            <a:ext cx="2843784" cy="0"/>
          </a:xfrm>
          <a:prstGeom prst="bentConnector3">
            <a:avLst/>
          </a:prstGeom>
          <a:ln w="6350">
            <a:solidFill>
              <a:srgbClr val="7E5B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476488" y="7830311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Scaling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6488" y="86532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8C9F5"/>
                </a:solidFill>
                <a:latin typeface="Montserrat"/>
              </a:rPr>
              <a:t>Across Marketing &amp; IT for Infosys-managed spend, and beyond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841480" y="3246120"/>
            <a:ext cx="5687568" cy="6355080"/>
          </a:xfrm>
          <a:prstGeom prst="roundRect">
            <a:avLst>
              <a:gd name="adj" fmla="val 1929"/>
            </a:avLst>
          </a:prstGeom>
          <a:gradFill rotWithShape="1">
            <a:gsLst>
              <a:gs pos="0">
                <a:srgbClr val="6D28D9"/>
              </a:gs>
              <a:gs pos="100000">
                <a:srgbClr val="9333EA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07240" y="3575303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FFFFFF"/>
                </a:solidFill>
                <a:latin typeface="Consolas"/>
              </a:rPr>
              <a:t>IMPACT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2207240" y="4032504"/>
            <a:ext cx="4956048" cy="0"/>
          </a:xfrm>
          <a:prstGeom prst="bentConnector3">
            <a:avLst/>
          </a:prstGeom>
          <a:ln w="9525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207240" y="429767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1 : 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207240" y="513892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Return on investment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207240" y="5504688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On $15.5M committed savings, 2026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2207240" y="6739127"/>
            <a:ext cx="2340864" cy="0"/>
          </a:xfrm>
          <a:prstGeom prst="bentConnector3">
            <a:avLst/>
          </a:prstGeom>
          <a:ln w="6350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2424" y="429767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$265K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22424" y="513892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Annual platform 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822424" y="5504688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Fully-loaded run cost for 2026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4822424" y="6739127"/>
            <a:ext cx="2340864" cy="0"/>
          </a:xfrm>
          <a:prstGeom prst="bentConnector3">
            <a:avLst/>
          </a:prstGeom>
          <a:ln w="6350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2207240" y="690371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$8M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207240" y="774496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Hard savings in 2025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207240" y="8110727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Delivered, banked, audited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22424" y="690371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~3%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22424" y="774496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FTE efficiency gain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822424" y="8110727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Year on year, plus negotiation uplift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6032"/>
            <a:ext cx="2660904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256032"/>
            <a:ext cx="502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56032"/>
            <a:ext cx="1188720" cy="46634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68112" y="274320"/>
            <a:ext cx="0" cy="41148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87568" y="0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HOW IT WORKS · THE AGENTIC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0" y="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03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1808" y="155448"/>
            <a:ext cx="594360" cy="6583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CAPABILITY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Five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Aerchain agents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, running the sourcing cycle.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Each agent runs autonomously inside its station of the procure-to-pay flow, with human-in-the-loop guardrails per category — all live in production.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91840"/>
            <a:ext cx="3154680" cy="48920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9184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4983" y="3602736"/>
            <a:ext cx="658368" cy="658368"/>
          </a:xfrm>
          <a:prstGeom prst="roundRect">
            <a:avLst>
              <a:gd name="adj" fmla="val 19444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intake_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1287" y="3749039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7943" y="3602736"/>
            <a:ext cx="1819656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3" y="4480560"/>
            <a:ext cx="264261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B1F26"/>
                </a:solidFill>
                <a:latin typeface="Montserrat Medium"/>
              </a:rPr>
              <a:t>Intake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120640"/>
            <a:ext cx="264261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 Medium"/>
              </a:rPr>
              <a:t>Intake &amp; Enrichment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3" y="568756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3" y="568756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Auto-ingest PRs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4983" y="623620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623620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Clean &amp; classify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3" y="678484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3" y="678484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Enrich &amp; tag spend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4983" y="7516368"/>
            <a:ext cx="2642616" cy="420624"/>
          </a:xfrm>
          <a:prstGeom prst="roundRect">
            <a:avLst>
              <a:gd name="adj" fmla="val 500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3" y="7516368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69080" y="3291840"/>
            <a:ext cx="3154680" cy="48920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69080" y="329184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25112" y="3602736"/>
            <a:ext cx="658368" cy="658368"/>
          </a:xfrm>
          <a:prstGeom prst="roundRect">
            <a:avLst>
              <a:gd name="adj" fmla="val 19444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on_sourcing_pur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3749039"/>
            <a:ext cx="365760" cy="3657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48072" y="3602736"/>
            <a:ext cx="1819656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25112" y="4480560"/>
            <a:ext cx="264261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B1F26"/>
                </a:solidFill>
                <a:latin typeface="Montserrat Medium"/>
              </a:rPr>
              <a:t>Sourcing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5120640"/>
            <a:ext cx="264261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 Medium"/>
              </a:rPr>
              <a:t>Multi-Agent RFQ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5112" y="568756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25112" y="568756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Build RFQ pack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25112" y="623620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25112" y="623620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Run outreach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5112" y="678484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25112" y="678484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Extract bids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25112" y="7516368"/>
            <a:ext cx="2642616" cy="420624"/>
          </a:xfrm>
          <a:prstGeom prst="roundRect">
            <a:avLst>
              <a:gd name="adj" fmla="val 500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25112" y="7516368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79208" y="3291840"/>
            <a:ext cx="3154680" cy="48920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79208" y="329184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635240" y="3602736"/>
            <a:ext cx="658368" cy="658368"/>
          </a:xfrm>
          <a:prstGeom prst="roundRect">
            <a:avLst>
              <a:gd name="adj" fmla="val 19444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con_negotiation_pur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1544" y="3749039"/>
            <a:ext cx="365760" cy="36576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458200" y="3602736"/>
            <a:ext cx="1819656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35240" y="4480560"/>
            <a:ext cx="264261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B1F26"/>
                </a:solidFill>
                <a:latin typeface="Montserrat Medium"/>
              </a:rPr>
              <a:t>Negotiation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5240" y="5120640"/>
            <a:ext cx="264261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 Medium"/>
              </a:rPr>
              <a:t>AI Negotiation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35240" y="568756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35240" y="568756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Multi-round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35240" y="623620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5240" y="623620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Price &amp; terms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35240" y="678484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678484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Auto-negotiate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35240" y="7516368"/>
            <a:ext cx="2642616" cy="420624"/>
          </a:xfrm>
          <a:prstGeom prst="roundRect">
            <a:avLst>
              <a:gd name="adj" fmla="val 500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35240" y="7516368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689336" y="3291840"/>
            <a:ext cx="3154680" cy="48920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89336" y="329184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945367" y="3602736"/>
            <a:ext cx="658368" cy="658368"/>
          </a:xfrm>
          <a:prstGeom prst="roundRect">
            <a:avLst>
              <a:gd name="adj" fmla="val 19444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con_evaluation_pur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672" y="3749039"/>
            <a:ext cx="365760" cy="36576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1768328" y="3602736"/>
            <a:ext cx="1819656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45367" y="4480560"/>
            <a:ext cx="264261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B1F26"/>
                </a:solidFill>
                <a:latin typeface="Montserrat Medium"/>
              </a:rPr>
              <a:t>Evaluation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5367" y="5120640"/>
            <a:ext cx="264261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 Medium"/>
              </a:rPr>
              <a:t>Eval + Compliance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945367" y="568756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945367" y="568756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Score every bid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945367" y="623620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945367" y="623620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Compliance check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45367" y="678484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45367" y="678484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Rank &amp; recommend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945367" y="7516368"/>
            <a:ext cx="2642616" cy="420624"/>
          </a:xfrm>
          <a:prstGeom prst="roundRect">
            <a:avLst>
              <a:gd name="adj" fmla="val 500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945367" y="7516368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3999464" y="3291840"/>
            <a:ext cx="3154680" cy="48920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3999464" y="329184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4255496" y="3602736"/>
            <a:ext cx="658368" cy="658368"/>
          </a:xfrm>
          <a:prstGeom prst="roundRect">
            <a:avLst>
              <a:gd name="adj" fmla="val 19444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con_award_pur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401800" y="3749039"/>
            <a:ext cx="365760" cy="36576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5078455" y="3602736"/>
            <a:ext cx="1819656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255496" y="4480560"/>
            <a:ext cx="264261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B1F26"/>
                </a:solidFill>
                <a:latin typeface="Montserrat Medium"/>
              </a:rPr>
              <a:t>Award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55496" y="5120640"/>
            <a:ext cx="264261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 Medium"/>
              </a:rPr>
              <a:t>Scenario + Writeback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4255496" y="568756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4255496" y="568756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Build scenarios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4255496" y="623620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255496" y="623620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Optimal allocation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255496" y="6784848"/>
            <a:ext cx="2642616" cy="438912"/>
          </a:xfrm>
          <a:prstGeom prst="roundRect">
            <a:avLst>
              <a:gd name="adj" fmla="val 50000"/>
            </a:avLst>
          </a:prstGeom>
          <a:solidFill>
            <a:srgbClr val="F1E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255496" y="6784848"/>
            <a:ext cx="2642616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D28D9"/>
                </a:solidFill>
                <a:latin typeface="Montserrat SemiBold"/>
              </a:rPr>
              <a:t>Write back to ERP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4255496" y="7516368"/>
            <a:ext cx="2642616" cy="420624"/>
          </a:xfrm>
          <a:prstGeom prst="roundRect">
            <a:avLst>
              <a:gd name="adj" fmla="val 50000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255496" y="7516368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58952" y="8503920"/>
            <a:ext cx="16770096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1560" y="8503920"/>
            <a:ext cx="283464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spc="120">
                <a:solidFill>
                  <a:srgbClr val="7C3AED"/>
                </a:solidFill>
                <a:latin typeface="Consolas"/>
              </a:rPr>
              <a:t>GUARDRAILS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A707B"/>
                </a:solidFill>
                <a:latin typeface="Montserrat"/>
              </a:rPr>
              <a:t>Every step · per category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114800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0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Hard limits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352032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52032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&gt;5% deviation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89264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89264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SoD matrix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826496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26496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Immutable audit log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3063728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3063728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Auto-blacklist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5300960" y="8796528"/>
            <a:ext cx="2072640" cy="384048"/>
          </a:xfrm>
          <a:prstGeom prst="roundRect">
            <a:avLst>
              <a:gd name="adj" fmla="val 50000"/>
            </a:avLst>
          </a:prstGeom>
          <a:solidFill>
            <a:srgbClr val="FAFBFC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300960" y="8796528"/>
            <a:ext cx="2072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1F26"/>
                </a:solidFill>
                <a:latin typeface="Montserrat SemiBold"/>
              </a:rPr>
              <a:t>Human-in-the-loop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6032"/>
            <a:ext cx="2660904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256032"/>
            <a:ext cx="502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56032"/>
            <a:ext cx="1188720" cy="466344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68112" y="274320"/>
            <a:ext cx="0" cy="41148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87568" y="0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THE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0" y="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04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1808" y="155448"/>
            <a:ext cx="594360" cy="6583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VALUE &amp;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A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1 : 58 return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 — and it is already banked.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The numbers behind the deployment: addressable spend, committed savings, run cost, and the rollout path from here.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9184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9184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56616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$54M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89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Addressable spend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73659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Across 37 active sourcing projects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6632" y="329184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356616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89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Average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73659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Realised savings rate per project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39496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" y="539496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66928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$5M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6492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Savings unlocked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683971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Across projects at various stages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6632" y="539496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56632" y="539496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566928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$15.5M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6492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Committed savings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683971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Target the platform is underwriting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" y="749808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" y="749808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777240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$265K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85953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Annual platform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894283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Fully-loaded run cost for 2026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56632" y="749808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56632" y="749808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777240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1 : 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85953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Return on investment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894283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Every $1 returns $58 in 2026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3291840"/>
            <a:ext cx="820216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38359" y="3602736"/>
            <a:ext cx="73792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SAVINGS MOMENTUM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12680" y="4869917"/>
            <a:ext cx="1417320" cy="707922"/>
          </a:xfrm>
          <a:prstGeom prst="roundRect">
            <a:avLst>
              <a:gd name="adj" fmla="val 5166"/>
            </a:avLst>
          </a:prstGeom>
          <a:gradFill rotWithShape="1">
            <a:gsLst>
              <a:gs pos="0">
                <a:srgbClr val="C4A8F7"/>
              </a:gs>
              <a:gs pos="100000">
                <a:srgbClr val="A78BFA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4412717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7C3AED"/>
                </a:solidFill>
                <a:latin typeface="Montserrat SemiBold"/>
              </a:rPr>
              <a:t>$8M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63270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1F26"/>
                </a:solidFill>
                <a:latin typeface="Montserrat SemiBold"/>
              </a:rPr>
              <a:t>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588873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delivered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4206240"/>
            <a:ext cx="1417320" cy="1371600"/>
          </a:xfrm>
          <a:prstGeom prst="roundRect">
            <a:avLst>
              <a:gd name="adj" fmla="val 2666"/>
            </a:avLst>
          </a:prstGeom>
          <a:gradFill rotWithShape="1">
            <a:gsLst>
              <a:gs pos="0">
                <a:srgbClr val="8B5CF6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024360" y="37490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7C3AED"/>
                </a:solidFill>
                <a:latin typeface="Montserrat SemiBold"/>
              </a:rPr>
              <a:t>$15.5M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024360" y="563270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1F26"/>
                </a:solidFill>
                <a:latin typeface="Montserrat SemiBold"/>
              </a:rPr>
              <a:t>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24360" y="588873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committed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829800" y="5577840"/>
            <a:ext cx="50292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4584680" y="4160520"/>
            <a:ext cx="262432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7C3AED"/>
                </a:solidFill>
                <a:latin typeface="Montserrat Medium"/>
              </a:rPr>
              <a:t>≈2×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84E59"/>
                </a:solidFill>
                <a:latin typeface="Montserrat"/>
              </a:rPr>
              <a:t>growth in committed savings, 2025 → 2026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326880" y="6355080"/>
            <a:ext cx="8202168" cy="27432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2E1065"/>
              </a:gs>
              <a:gs pos="100000">
                <a:srgbClr val="4C1D95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59" y="6665976"/>
            <a:ext cx="73792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D8C9F5"/>
                </a:solidFill>
                <a:latin typeface="Consolas"/>
              </a:rPr>
              <a:t>ROLLOUT ROADMAP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38359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3B1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94391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D8C9F5"/>
                </a:solidFill>
                <a:latin typeface="Consolas"/>
              </a:rPr>
              <a:t>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94391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Business Services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94391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C9F5"/>
                </a:solidFill>
                <a:latin typeface="Montserrat"/>
              </a:rPr>
              <a:t>Live in production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96928" y="768096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</a:rPr>
              <a:t>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289535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3B1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545567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D8C9F5"/>
                </a:solidFill>
                <a:latin typeface="Consolas"/>
              </a:rPr>
              <a:t>NEXT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45567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Marketing &amp; IT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545567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C9F5"/>
                </a:solidFill>
                <a:latin typeface="Montserrat"/>
              </a:rPr>
              <a:t>Infosys-managed spend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548103" y="768096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4840711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3B1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096743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D8C9F5"/>
                </a:solidFill>
                <a:latin typeface="Consolas"/>
              </a:rPr>
              <a:t>THEN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096743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Enterprise-wide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096743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C9F5"/>
                </a:solidFill>
                <a:latin typeface="Montserrat"/>
              </a:rPr>
              <a:t>Scaling beyond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